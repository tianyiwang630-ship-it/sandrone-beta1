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9050c54d194ce3" /><Relationship Type="http://schemas.openxmlformats.org/officeDocument/2006/relationships/extended-properties" Target="/docProps/app.xml" Id="Ra7290541946f47fa" /><Relationship Type="http://schemas.openxmlformats.org/officeDocument/2006/relationships/officeDocument" Target="/ppt/presentation.xml" Id="R728f12bfc1544e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580dd8f91d4d76"/>
  </p:sldMasterIdLst>
  <p:notesMasterIdLst>
    <p:notesMasterId xmlns:r="http://schemas.openxmlformats.org/officeDocument/2006/relationships" r:id="Rfeb24f02b6ed4a5b"/>
  </p:notesMasterIdLst>
  <p:sldIdLst>
    <p:sldId xmlns:r="http://schemas.openxmlformats.org/officeDocument/2006/relationships" id="256" r:id="R75252f33f7594342"/>
    <p:sldId xmlns:r="http://schemas.openxmlformats.org/officeDocument/2006/relationships" id="257" r:id="R39294d36ca074f61"/>
    <p:sldId xmlns:r="http://schemas.openxmlformats.org/officeDocument/2006/relationships" id="258" r:id="R70828c29f07e485a"/>
    <p:sldId xmlns:r="http://schemas.openxmlformats.org/officeDocument/2006/relationships" id="259" r:id="Ra6314fdefa32410f"/>
    <p:sldId xmlns:r="http://schemas.openxmlformats.org/officeDocument/2006/relationships" id="260" r:id="Rb477ac2968254702"/>
    <p:sldId xmlns:r="http://schemas.openxmlformats.org/officeDocument/2006/relationships" id="261" r:id="Re29d4c487fd1450d"/>
    <p:sldId xmlns:r="http://schemas.openxmlformats.org/officeDocument/2006/relationships" id="262" r:id="Ra8ddceaea30e4f97"/>
    <p:sldId xmlns:r="http://schemas.openxmlformats.org/officeDocument/2006/relationships" id="263" r:id="Rc9ca687c5feb48e5"/>
    <p:sldId xmlns:r="http://schemas.openxmlformats.org/officeDocument/2006/relationships" id="264" r:id="Rcaca83cff4f345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d41926fa394464" /><Relationship Type="http://schemas.openxmlformats.org/officeDocument/2006/relationships/slideMaster" Target="/ppt/slideMasters/slideMaster1.xml" Id="R08580dd8f91d4d76" /><Relationship Type="http://schemas.openxmlformats.org/officeDocument/2006/relationships/notesMaster" Target="/ppt/notesMasters/notesMaster1.xml" Id="Rfeb24f02b6ed4a5b" /><Relationship Type="http://schemas.openxmlformats.org/officeDocument/2006/relationships/presProps" Target="/ppt/presProps.xml" Id="Rc03f25c2017646db" /><Relationship Type="http://schemas.openxmlformats.org/officeDocument/2006/relationships/tableStyles" Target="/ppt/tableStyles.xml" Id="R958f69daa0e84fbe" /><Relationship Type="http://schemas.openxmlformats.org/officeDocument/2006/relationships/slide" Target="/ppt/slides/slide1.xml" Id="R75252f33f7594342" /><Relationship Type="http://schemas.openxmlformats.org/officeDocument/2006/relationships/slide" Target="/ppt/slides/slide2.xml" Id="R39294d36ca074f61" /><Relationship Type="http://schemas.openxmlformats.org/officeDocument/2006/relationships/slide" Target="/ppt/slides/slide3.xml" Id="R70828c29f07e485a" /><Relationship Type="http://schemas.openxmlformats.org/officeDocument/2006/relationships/slide" Target="/ppt/slides/slide4.xml" Id="Ra6314fdefa32410f" /><Relationship Type="http://schemas.openxmlformats.org/officeDocument/2006/relationships/slide" Target="/ppt/slides/slide5.xml" Id="Rb477ac2968254702" /><Relationship Type="http://schemas.openxmlformats.org/officeDocument/2006/relationships/slide" Target="/ppt/slides/slide6.xml" Id="Re29d4c487fd1450d" /><Relationship Type="http://schemas.openxmlformats.org/officeDocument/2006/relationships/slide" Target="/ppt/slides/slide7.xml" Id="Ra8ddceaea30e4f97" /><Relationship Type="http://schemas.openxmlformats.org/officeDocument/2006/relationships/slide" Target="/ppt/slides/slide8.xml" Id="Rc9ca687c5feb48e5" /><Relationship Type="http://schemas.openxmlformats.org/officeDocument/2006/relationships/slide" Target="/ppt/slides/slide9.xml" Id="Rcaca83cff4f345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cb799d6c26646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87346512854eb1" /><Relationship Type="http://schemas.openxmlformats.org/officeDocument/2006/relationships/notesMaster" Target="/ppt/notesMasters/notesMaster1.xml" Id="R68ba036f6eb6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3fd1e1db124401" /><Relationship Type="http://schemas.openxmlformats.org/officeDocument/2006/relationships/notesMaster" Target="/ppt/notesMasters/notesMaster1.xml" Id="Ra1e19ea9075e4e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4bf42590b8d432c" /><Relationship Type="http://schemas.openxmlformats.org/officeDocument/2006/relationships/notesMaster" Target="/ppt/notesMasters/notesMaster1.xml" Id="R42880a28ae2d40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131dd1547a4102" /><Relationship Type="http://schemas.openxmlformats.org/officeDocument/2006/relationships/notesMaster" Target="/ppt/notesMasters/notesMaster1.xml" Id="R5b689875b80c40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410de2af1e94cb2" /><Relationship Type="http://schemas.openxmlformats.org/officeDocument/2006/relationships/notesMaster" Target="/ppt/notesMasters/notesMaster1.xml" Id="Rf4a5608ec12e42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1e56047a9842ab" /><Relationship Type="http://schemas.openxmlformats.org/officeDocument/2006/relationships/notesMaster" Target="/ppt/notesMasters/notesMaster1.xml" Id="R0da6308e002d405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519a55b6a974171" /><Relationship Type="http://schemas.openxmlformats.org/officeDocument/2006/relationships/notesMaster" Target="/ppt/notesMasters/notesMaster1.xml" Id="R47e73a70755b4e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8cb96b90b3143ae" /><Relationship Type="http://schemas.openxmlformats.org/officeDocument/2006/relationships/notesMaster" Target="/ppt/notesMasters/notesMaster1.xml" Id="R1ff38aae0e1345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52585e1df84391" /><Relationship Type="http://schemas.openxmlformats.org/officeDocument/2006/relationships/notesMaster" Target="/ppt/notesMasters/notesMaster1.xml" Id="R4a481e15881e41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6fa16f64040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e4e4452324748f7" /><Relationship Type="http://schemas.openxmlformats.org/officeDocument/2006/relationships/slideLayout" Target="/ppt/slideLayouts/slideLayout1.xml" Id="R9ad9783cbd3741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d9783cbd3741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dc4928bd7464a" /><Relationship Type="http://schemas.openxmlformats.org/officeDocument/2006/relationships/notesSlide" Target="/ppt/notesSlides/notesSlide1.xml" Id="R27d9c3f6b90749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6c7ac5803436e" /><Relationship Type="http://schemas.openxmlformats.org/officeDocument/2006/relationships/notesSlide" Target="/ppt/notesSlides/notesSlide2.xml" Id="R23336942f86a4e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84ad3f9e74183" /><Relationship Type="http://schemas.openxmlformats.org/officeDocument/2006/relationships/image" Target="/ppt/media/image.png" Id="R9ecf026c57264ab0" /><Relationship Type="http://schemas.openxmlformats.org/officeDocument/2006/relationships/notesSlide" Target="/ppt/notesSlides/notesSlide3.xml" Id="Raa0b575b6c0946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7c34fbf764897" /><Relationship Type="http://schemas.openxmlformats.org/officeDocument/2006/relationships/image" Target="/ppt/media/image2.png" Id="R65d81b476e834e22" /><Relationship Type="http://schemas.openxmlformats.org/officeDocument/2006/relationships/notesSlide" Target="/ppt/notesSlides/notesSlide4.xml" Id="R353c50e5b8414a8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6773d5bbf4ee2" /><Relationship Type="http://schemas.openxmlformats.org/officeDocument/2006/relationships/image" Target="/ppt/media/image3.png" Id="R992d669dc27a4e0b" /><Relationship Type="http://schemas.openxmlformats.org/officeDocument/2006/relationships/notesSlide" Target="/ppt/notesSlides/notesSlide5.xml" Id="Re22270b7d54d4e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77748e65d498d" /><Relationship Type="http://schemas.openxmlformats.org/officeDocument/2006/relationships/image" Target="/ppt/media/image4.png" Id="Ra0fdb7c6ff434d75" /><Relationship Type="http://schemas.openxmlformats.org/officeDocument/2006/relationships/notesSlide" Target="/ppt/notesSlides/notesSlide6.xml" Id="R96b0f9f7871c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ad0a77da34ea0" /><Relationship Type="http://schemas.openxmlformats.org/officeDocument/2006/relationships/image" Target="/ppt/media/image5.png" Id="R91c2486c17ba4d89" /><Relationship Type="http://schemas.openxmlformats.org/officeDocument/2006/relationships/notesSlide" Target="/ppt/notesSlides/notesSlide7.xml" Id="Raab275aed11041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c7d270791a47da" /><Relationship Type="http://schemas.openxmlformats.org/officeDocument/2006/relationships/notesSlide" Target="/ppt/notesSlides/notesSlide8.xml" Id="R0e122a8bdcf34e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f897b8a684ee3" /><Relationship Type="http://schemas.openxmlformats.org/officeDocument/2006/relationships/notesSlide" Target="/ppt/notesSlides/notesSlide9.xml" Id="R0058ca5901684f1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dark">
            <a:extLst xmlns:a="http://schemas.openxmlformats.org/drawingml/2006/main">
              <a:ext uri="{FF2B5EF4-FFF2-40B4-BE49-F238E27FC236}">
                <a16:creationId xmlns:a16="http://schemas.microsoft.com/office/drawing/2014/main" id="{306B1007-6760-4CCB-9304-66B7F64F2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AF826-EC19-4772-8925-D9783833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FC9FF"/>
                </a:solidFill>
              </a:defRPr>
            </a:pPr>
            <a:r>
              <a:rPr sz="1125" b="1">
                <a:solidFill>
                  <a:srgbClr val="8FC9FF"/>
                </a:solidFill>
              </a:rPr>
              <a:t>ALPHA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78A98D9-0024-44C6-8713-A5518500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47800"/>
            <a:ext cx="4191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聚焦知识工作的</a:t>
            </a:r>
          </a:p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办公 Agent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58F20-3364-45FE-9DAC-D5C20B4D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0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0F5990-F021-4977-B411-D1BD3B137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让 AI 不只回答问题，</a:t>
            </a:r>
          </a:p>
          <a:p xmlns:a="http://schemas.openxmlformats.org/drawingml/2006/main">
            <a:pPr algn="l">
              <a:defRPr sz="1650" b="0">
                <a:solidFill>
                  <a:srgbClr val="D9E4EC"/>
                </a:solidFill>
              </a:defRPr>
            </a:pPr>
            <a:r>
              <a:rPr sz="1650" b="0">
                <a:solidFill>
                  <a:srgbClr val="D9E4EC"/>
                </a:solidFill>
              </a:rPr>
              <a:t>而是真正进入工作。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8B8C1-2DC6-4C24-B976-B7D6C1A6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960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8FA5B4"/>
                </a:solidFill>
              </a:defRPr>
            </a:pPr>
            <a:r>
              <a:rPr sz="900" b="1">
                <a:solidFill>
                  <a:srgbClr val="8FA5B4"/>
                </a:solidFill>
              </a:rPr>
              <a:t>PRODUCT OVERVIEW  · 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32D439-D80F-4183-A97D-A40DA262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047750"/>
            <a:ext cx="5334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AI 应用的价值，</a:t>
            </a:r>
          </a:p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发生在“最后一公里”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E40180-8461-451A-8C1B-50968299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908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366F0"/>
                </a:solidFill>
              </a:defRPr>
            </a:pPr>
            <a:r>
              <a:rPr sz="1650" b="1">
                <a:solidFill>
                  <a:srgbClr val="3366F0"/>
                </a:solidFill>
              </a:rPr>
              <a:t>已有数据积累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2B321C-CC55-4075-88F5-AD6280B5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638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AF86"/>
                </a:solidFill>
              </a:defRPr>
            </a:pPr>
            <a:r>
              <a:rPr sz="1650" b="1">
                <a:solidFill>
                  <a:srgbClr val="28AF86"/>
                </a:solidFill>
              </a:rPr>
              <a:t>经验持续沉淀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CD533-CAC9-441C-B836-862DFB00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86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2765B"/>
                </a:solidFill>
              </a:defRPr>
            </a:pPr>
            <a:r>
              <a:rPr sz="1650" b="1">
                <a:solidFill>
                  <a:srgbClr val="F2765B"/>
                </a:solidFill>
              </a:rPr>
              <a:t>交互自然便利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40EE0-8C86-45B2-B7B1-C28DD6D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38750"/>
            <a:ext cx="5143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Alpha 把通用 Agent 能力收束到具体办公场景。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CDBF1-2328-4168-8CC5-508A7C1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14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5F5C92-C312-4A85-B2FD-096AA0B8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71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57BDD1-0E2A-46A1-9305-0B378F7D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4100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DE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6829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B5F7E-5632-44FA-BFD4-C845F2DFE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A15016-9DE9-44E5-8814-B79E5FF8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为什么是现在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569290-86A7-4B6D-AD4F-FAF0C745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1E947-EA5C-4688-AB15-36F51ED9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636"/>
                </a:solidFill>
              </a:defRPr>
            </a:pPr>
            <a:r>
              <a:rPr sz="2700" b="1">
                <a:solidFill>
                  <a:srgbClr val="102636"/>
                </a:solidFill>
              </a:rPr>
              <a:t>Agent 的基础能力正在标准化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78D376-1C9B-42B4-9602-E8935186E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ReAct、工具调用、运行时与沙箱逐渐成为共同底座。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91612-B2D2-4D8E-9959-7A9CD885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B289D-0EC4-4EC3-942E-C337CF2E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186E3-56CD-4611-8326-23DD9EB1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ReAct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591729-0469-4E7A-A03F-611D5216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思考与行动循环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6BD5D0-20E2-4CE1-BC70-031437F1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1C55AA-3EF3-403D-B39F-522BA600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361464-61A6-4DCE-9495-07CE5558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工具调用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8D4D43-B2FB-48E3-93ED-D2450504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连接真实工作对象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C2DD15-BE9E-4275-B451-ADC86326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0DA7ED-D350-489A-AA19-EF832EBF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398027-9D37-435F-9C97-0242D62F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运行时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16053-AE1D-4A91-88C8-6A68E006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持续推进复杂任务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8FFC9B-3185-4925-AF21-20965B19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289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366F0"/>
                </a:solidFill>
              </a:defRPr>
            </a:pPr>
            <a:r>
              <a:rPr sz="975" b="1">
                <a:solidFill>
                  <a:srgbClr val="3366F0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46A512-D39F-45D5-8F15-6BCB6E75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90850"/>
            <a:ext cx="19526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30D693-B626-4455-B9D7-58EA1099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004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636"/>
                </a:solidFill>
              </a:defRPr>
            </a:pPr>
            <a:r>
              <a:rPr sz="1725" b="1">
                <a:solidFill>
                  <a:srgbClr val="102636"/>
                </a:solidFill>
              </a:rPr>
              <a:t>沙箱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4C2971-8380-4FED-B9D7-7D372A87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195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控制权限与边界</a:t>
            </a:r>
          </a:p>
        </p:txBody>
      </p:sp>
      <p:sp>
        <p:nvSpPr>
          <p:cNvPr id="22" name="last-mile">
            <a:extLst xmlns:a="http://schemas.openxmlformats.org/drawingml/2006/main">
              <a:ext uri="{FF2B5EF4-FFF2-40B4-BE49-F238E27FC236}">
                <a16:creationId xmlns:a16="http://schemas.microsoft.com/office/drawing/2014/main" id="{8B8D07BF-4864-4A4F-8FFB-5B927899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81250"/>
            <a:ext cx="1981200" cy="2286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CFB5A-09C5-40BA-B9CA-D141CEDE6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6860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最后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一公里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A0E59A-9722-43E9-B7E3-8FD9F696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8100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1D8C3"/>
                </a:solidFill>
              </a:defRPr>
            </a:pPr>
            <a:r>
              <a:rPr sz="1200" b="1">
                <a:solidFill>
                  <a:srgbClr val="91D8C3"/>
                </a:solidFill>
              </a:rPr>
              <a:t>场景 Know-how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485CF7-481C-4FAF-8342-68364B9D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81600"/>
            <a:ext cx="8382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636"/>
                </a:solidFill>
              </a:defRPr>
            </a:pPr>
            <a:r>
              <a:rPr sz="2025" b="1">
                <a:solidFill>
                  <a:srgbClr val="102636"/>
                </a:solidFill>
              </a:rPr>
              <a:t>决定价值的，不再只是模型有多强，</a:t>
            </a:r>
          </a:p>
          <a:p xmlns:a="http://schemas.openxmlformats.org/drawingml/2006/main">
            <a:pPr algn="l">
              <a:defRPr sz="2025" b="1">
                <a:solidFill>
                  <a:srgbClr val="102636"/>
                </a:solidFill>
              </a:defRPr>
            </a:pPr>
            <a:r>
              <a:rPr sz="2025" b="1">
                <a:solidFill>
                  <a:srgbClr val="102636"/>
                </a:solidFill>
              </a:rPr>
              <a:t>而是它是否真正懂你的工作。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4DB830-BC12-4D1C-9853-D8CEB251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10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78397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C9CFEE-FDD4-40A6-90CA-F68619B0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0B593-6711-4E29-BA20-482149DDF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产品定位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FCC7A-2015-4EDE-9607-9A55F57A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46384-56E4-498D-A955-A7FAFDF35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一个能直接进入工作现场的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7D5BE-388C-44AB-9192-10C7F68FB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理解材料、调用能力、查看文件、交付结果，都在同一工作空间完成。</a:t>
            </a:r>
          </a:p>
        </p:txBody>
      </p:sp>
      <p:sp>
        <p:nvSpPr>
          <p:cNvPr id="6" name="workspace-preview-frame">
            <a:extLst xmlns:a="http://schemas.openxmlformats.org/drawingml/2006/main">
              <a:ext uri="{FF2B5EF4-FFF2-40B4-BE49-F238E27FC236}">
                <a16:creationId xmlns:a16="http://schemas.microsoft.com/office/drawing/2014/main" id="{3C87D783-B18A-4C9C-B291-A3CC7936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14550"/>
            <a:ext cx="6838950" cy="3705225"/>
          </a:xfrm>
          <a:prstGeom xmlns:a="http://schemas.openxmlformats.org/drawingml/2006/main" prst="roundRect">
            <a:avLst>
              <a:gd name="adj" fmla="val 3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cf026c57264ab0"/>
          <a:stretch xmlns:a="http://schemas.openxmlformats.org/drawingml/2006/main"/>
        </p:blipFill>
        <p:spPr>
          <a:xfrm xmlns:a="http://schemas.openxmlformats.org/drawingml/2006/main">
            <a:off x="4959781" y="2209800"/>
            <a:ext cx="6634887" cy="3514725"/>
          </a:xfrm>
          <a:prstGeom xmlns:a="http://schemas.openxmlformats.org/drawingml/2006/main" prst="roundRect">
            <a:avLst>
              <a:gd name="adj" fmla="val 216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E8E6B1-56C9-46A0-924B-96F206FF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66F0"/>
                </a:solidFill>
              </a:defRPr>
            </a:pPr>
            <a:r>
              <a:rPr sz="1125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AF6A05-0801-4C85-892E-F1A0E6A2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理解已有资料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3BFE1-60F6-4367-8635-02DE3925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不从空白开始，先读懂项目。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7B3C9D-0A91-4DE0-81FD-BA13F459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AF86"/>
                </a:solidFill>
              </a:defRPr>
            </a:pPr>
            <a:r>
              <a:rPr sz="1125" b="1">
                <a:solidFill>
                  <a:srgbClr val="28AF8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E16A9-1305-4596-BB3B-1CCFF27A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直接完成操作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E571C4-F679-49A8-9189-1AB965DB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不是只给建议，而是交付文件。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A9228-4BC8-48A2-93B6-5AE4EB70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86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765B"/>
                </a:solidFill>
              </a:defRPr>
            </a:pPr>
            <a:r>
              <a:rPr sz="1125" b="1">
                <a:solidFill>
                  <a:srgbClr val="F2765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2451E-6BF0-46C8-87E1-54D5D68E7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636"/>
                </a:solidFill>
              </a:defRPr>
            </a:pPr>
            <a:r>
              <a:rPr sz="1650" b="1">
                <a:solidFill>
                  <a:srgbClr val="102636"/>
                </a:solidFill>
              </a:rPr>
              <a:t>让经验留下来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5308CF-9F01-45A4-83DB-99B6971E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482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会话、项目和成果持续衔接。</a:t>
            </a:r>
          </a:p>
        </p:txBody>
      </p:sp>
    </p:spTree>
    <p:extLst>
      <p:ext uri="{BB962C8B-B14F-4D97-AF65-F5344CB8AC3E}">
        <p14:creationId xmlns:p14="http://schemas.microsoft.com/office/powerpoint/2010/main" val="15591066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396458-B1B9-4AF0-B77F-69EE1326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D86D2E-E311-4DA5-A742-63ACACDA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知识库模式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BE7AA-803E-4556-8BCB-D8D5C0188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23D02F-F0CE-409F-ADD0-FCC0D0BC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28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一键把文档变成持续生长的知识库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7575-A4F0-423A-9B8E-ED33AEC7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76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不只是“放进去”，还会发现资料之间的联系，并持续更新维护。</a:t>
            </a:r>
          </a:p>
        </p:txBody>
      </p:sp>
      <p:sp>
        <p:nvSpPr>
          <p:cNvPr id="6" name="knowledge-base-frame">
            <a:extLst xmlns:a="http://schemas.openxmlformats.org/drawingml/2006/main">
              <a:ext uri="{FF2B5EF4-FFF2-40B4-BE49-F238E27FC236}">
                <a16:creationId xmlns:a16="http://schemas.microsoft.com/office/drawing/2014/main" id="{AB72DD0D-C728-4053-B6FD-41FADE51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43125"/>
            <a:ext cx="742950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d81b476e834e22"/>
          <a:stretch xmlns:a="http://schemas.openxmlformats.org/drawingml/2006/main"/>
        </p:blipFill>
        <p:spPr>
          <a:xfrm xmlns:a="http://schemas.openxmlformats.org/drawingml/2006/main">
            <a:off x="599682" y="2238375"/>
            <a:ext cx="7220736" cy="3829050"/>
          </a:xfrm>
          <a:prstGeom xmlns:a="http://schemas.openxmlformats.org/drawingml/2006/main" prst="roundRect">
            <a:avLst>
              <a:gd name="adj" fmla="val 199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0A7AF-24AF-4AD1-A23A-FE47110C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7CD6C4-3C1C-4C46-8A40-ABCF2979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812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8195B-BC62-402D-B2D3-0CB2A8AB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43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一键创建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D98E5-79E3-4CA8-8B41-7978B612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已有项目或空项目，都能快速起步。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109ACC-E790-4EF2-8057-B0144D59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71154-4765-49E8-AF68-8D07D80E8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861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EF90CE-7C6F-4612-9AEA-18F36669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480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发现联系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E141DD-2AD3-4919-9AFE-68C0A609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719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把分散文档整理成可查询的知识网络。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23E0C9-4DDA-4E4A-8F7E-07B0010BE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1313D-CE7F-427A-A554-614A692BF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9105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8B6C2B-E3E4-4B68-A69E-C6563888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52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636"/>
                </a:solidFill>
              </a:defRPr>
            </a:pPr>
            <a:r>
              <a:rPr sz="1500" b="1">
                <a:solidFill>
                  <a:srgbClr val="102636"/>
                </a:solidFill>
              </a:rPr>
              <a:t>持续维护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3BE21-7023-4797-8105-7471BC48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6800"/>
            <a:ext cx="333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增加、移除、全局整理，知识随工作生长。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4D7BA1-D860-47B2-A417-1BC6D8FA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340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636"/>
                </a:solidFill>
              </a:defRPr>
            </a:pPr>
            <a:r>
              <a:rPr sz="1350" b="1">
                <a:solidFill>
                  <a:srgbClr val="102636"/>
                </a:solidFill>
              </a:rPr>
              <a:t>你的资料，不再只是文件夹。</a:t>
            </a:r>
          </a:p>
        </p:txBody>
      </p:sp>
    </p:spTree>
    <p:extLst>
      <p:ext uri="{BB962C8B-B14F-4D97-AF65-F5344CB8AC3E}">
        <p14:creationId xmlns:p14="http://schemas.microsoft.com/office/powerpoint/2010/main" val="19319505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B44A0-9360-4828-B3CB-9252D5BB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C338C-5E75-4F71-8A1C-3A7CA984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办公 SKILL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3C676C-CA66-4241-831F-E16F447C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07B4BC-E816-4937-A3B4-33D37E26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不用打开 Office，也能直接编辑文档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FC1D5C-CE9C-4172-A30F-93C014E9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预装文档处理 Skill 与依赖，让 AI 从“告诉你怎么做”变成“替你完成”。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60FD7-2D29-49A2-8103-210740A21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384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636"/>
                </a:solidFill>
              </a:defRPr>
            </a:pPr>
            <a:r>
              <a:rPr sz="1800" b="1">
                <a:solidFill>
                  <a:srgbClr val="102636"/>
                </a:solidFill>
              </a:rPr>
              <a:t>一句话交代目标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B6FEF1-580F-41DB-9C44-BEDF774E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52750"/>
            <a:ext cx="3524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创建、修改、排版、预览、导出，</a:t>
            </a:r>
          </a:p>
          <a:p xmlns:a="http://schemas.openxmlformats.org/drawingml/2006/main">
            <a:pPr algn="l">
              <a:defRPr sz="1350" b="0">
                <a:solidFill>
                  <a:srgbClr val="647682"/>
                </a:solidFill>
              </a:defRPr>
            </a:pPr>
            <a:r>
              <a:rPr sz="1350" b="0">
                <a:solidFill>
                  <a:srgbClr val="647682"/>
                </a:solidFill>
              </a:rPr>
              <a:t>都可以在工作区内完成。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BEB3B-33D4-44D9-8117-C5619C189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D7C20B-C0E9-4F29-BAD4-4FF4177E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053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66F0"/>
                </a:solidFill>
              </a:defRPr>
            </a:pPr>
            <a:r>
              <a:rPr sz="1275" b="1">
                <a:solidFill>
                  <a:srgbClr val="3366F0"/>
                </a:solidFill>
              </a:rPr>
              <a:t>PPTX  ·  DOCX  ·  XLSX  ·  PDF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8E56E-6866-40A4-BB96-35C40C84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7680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8AF86"/>
                </a:solidFill>
              </a:defRPr>
            </a:pPr>
            <a:r>
              <a:rPr sz="1650" b="1">
                <a:solidFill>
                  <a:srgbClr val="28AF86"/>
                </a:solidFill>
              </a:rPr>
              <a:t>无需登录 Office 软件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F566E-49DD-44C7-9D13-655CB03B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14950"/>
            <a:ext cx="352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结果仍是可继续编辑的标准办公文件。</a:t>
            </a:r>
          </a:p>
        </p:txBody>
      </p:sp>
      <p:sp>
        <p:nvSpPr>
          <p:cNvPr id="12" name="ppt-processing-frame">
            <a:extLst xmlns:a="http://schemas.openxmlformats.org/drawingml/2006/main">
              <a:ext uri="{FF2B5EF4-FFF2-40B4-BE49-F238E27FC236}">
                <a16:creationId xmlns:a16="http://schemas.microsoft.com/office/drawing/2014/main" id="{FE8D281A-1617-48BB-BBEF-B0842647E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114550"/>
            <a:ext cx="7258050" cy="3933825"/>
          </a:xfrm>
          <a:prstGeom xmlns:a="http://schemas.openxmlformats.org/drawingml/2006/main" prst="roundRect">
            <a:avLst>
              <a:gd name="adj" fmla="val 29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2d669dc27a4e0b"/>
          <a:stretch xmlns:a="http://schemas.openxmlformats.org/drawingml/2006/main"/>
        </p:blipFill>
        <p:spPr>
          <a:xfrm xmlns:a="http://schemas.openxmlformats.org/drawingml/2006/main">
            <a:off x="4533900" y="2212839"/>
            <a:ext cx="7067550" cy="3737247"/>
          </a:xfrm>
          <a:prstGeom xmlns:a="http://schemas.openxmlformats.org/drawingml/2006/main" prst="roundRect">
            <a:avLst>
              <a:gd name="adj" fmla="val 2036"/>
            </a:avLst>
          </a:prstGeom>
        </p:spPr>
      </p:pic>
    </p:spTree>
    <p:extLst>
      <p:ext uri="{BB962C8B-B14F-4D97-AF65-F5344CB8AC3E}">
        <p14:creationId xmlns:p14="http://schemas.microsoft.com/office/powerpoint/2010/main" val="5060094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8DADC2-CB8B-4986-8C1D-EDC6068E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BFC148-850E-4C14-A207-F065AAF8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高阶提示词 · 对齐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9FFF84-C121-48DF-A53B-52F0753D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67745-8107-4E43-B639-75C7E2EB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95350"/>
            <a:ext cx="5334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636"/>
                </a:solidFill>
              </a:defRPr>
            </a:pPr>
            <a:r>
              <a:rPr sz="2850" b="1">
                <a:solidFill>
                  <a:srgbClr val="102636"/>
                </a:solidFill>
              </a:rPr>
              <a:t>先对齐，再执行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FF668C-A443-4DCC-8915-61022CB6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682"/>
                </a:solidFill>
              </a:defRPr>
            </a:pPr>
            <a:r>
              <a:rPr sz="1425" b="0">
                <a:solidFill>
                  <a:srgbClr val="647682"/>
                </a:solidFill>
              </a:rPr>
              <a:t>让 AI 先完整复述理解，继续讨论边界；</a:t>
            </a:r>
          </a:p>
          <a:p xmlns:a="http://schemas.openxmlformats.org/drawingml/2006/main">
            <a:pPr algn="l">
              <a:defRPr sz="1425" b="0">
                <a:solidFill>
                  <a:srgbClr val="647682"/>
                </a:solidFill>
              </a:defRPr>
            </a:pPr>
            <a:r>
              <a:rPr sz="1425" b="0">
                <a:solidFill>
                  <a:srgbClr val="647682"/>
                </a:solidFill>
              </a:rPr>
              <a:t>只有你明确开始，它才进入实施。</a:t>
            </a:r>
          </a:p>
        </p:txBody>
      </p:sp>
      <p:sp>
        <p:nvSpPr>
          <p:cNvPr id="6" name="alignment-screen-frame">
            <a:extLst xmlns:a="http://schemas.openxmlformats.org/drawingml/2006/main">
              <a:ext uri="{FF2B5EF4-FFF2-40B4-BE49-F238E27FC236}">
                <a16:creationId xmlns:a16="http://schemas.microsoft.com/office/drawing/2014/main" id="{2D5DB0A6-DB63-422D-A78A-8A6A5EA3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6819900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db7c6ff434d75"/>
          <a:stretch xmlns:a="http://schemas.openxmlformats.org/drawingml/2006/main"/>
        </p:blipFill>
        <p:spPr>
          <a:xfrm xmlns:a="http://schemas.openxmlformats.org/drawingml/2006/main">
            <a:off x="4972050" y="1905045"/>
            <a:ext cx="6629400" cy="3505111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D5B81-EB28-4BD7-A45A-6EB2583A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366F0"/>
                </a:solidFill>
              </a:defRPr>
            </a:pPr>
            <a:r>
              <a:rPr sz="1725" b="1">
                <a:solidFill>
                  <a:srgbClr val="3366F0"/>
                </a:solidFill>
              </a:rPr>
              <a:t>减少误解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FB4272-0255-4C41-83CD-9B7EE5C19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补充意见不会被误判为“立即开工”。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99FEE-D7DB-405A-959E-531E6D6F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AF86"/>
                </a:solidFill>
              </a:defRPr>
            </a:pPr>
            <a:r>
              <a:rPr sz="1725" b="1">
                <a:solidFill>
                  <a:srgbClr val="28AF86"/>
                </a:solidFill>
              </a:rPr>
              <a:t>减少返工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4981C0-9DFE-4D03-A19F-FCB067B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需求边界先收束，结果更接近真实意图。</a:t>
            </a:r>
          </a:p>
        </p:txBody>
      </p:sp>
      <p:sp>
        <p:nvSpPr>
          <p:cNvPr id="12" name="align-callout">
            <a:extLst xmlns:a="http://schemas.openxmlformats.org/drawingml/2006/main">
              <a:ext uri="{FF2B5EF4-FFF2-40B4-BE49-F238E27FC236}">
                <a16:creationId xmlns:a16="http://schemas.microsoft.com/office/drawing/2014/main" id="{A0B43F29-C625-450E-BB8B-285CB9FEE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638800"/>
            <a:ext cx="367665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F5E732-3A1B-43DC-B5EF-899AED22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7150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一个开关，调用成熟的协作方法</a:t>
            </a:r>
          </a:p>
        </p:txBody>
      </p:sp>
    </p:spTree>
    <p:extLst>
      <p:ext uri="{BB962C8B-B14F-4D97-AF65-F5344CB8AC3E}">
        <p14:creationId xmlns:p14="http://schemas.microsoft.com/office/powerpoint/2010/main" val="19429125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78920-FB66-46DD-A128-1299ADF2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A1C37-F7BC-4E48-982D-54E0ABCB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高阶提示词 · 复盘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FC0CF4-AECE-4B67-85B6-C4D2C045E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E2CF0-A445-4398-9543-0A87BB525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8001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把一次协作，变成可复用的经验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45849-DBBD-40B6-9AC7-88206C42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回顾项目发生了什么，也把背景、决策和踩过的坑交给下一次对话。</a:t>
            </a:r>
          </a:p>
        </p:txBody>
      </p:sp>
      <p:sp>
        <p:nvSpPr>
          <p:cNvPr id="6" name="retrospective-screen-frame">
            <a:extLst xmlns:a="http://schemas.openxmlformats.org/drawingml/2006/main">
              <a:ext uri="{FF2B5EF4-FFF2-40B4-BE49-F238E27FC236}">
                <a16:creationId xmlns:a16="http://schemas.microsoft.com/office/drawing/2014/main" id="{D4CAD5E2-BB1D-4538-AC2F-5ECD9E1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7334250" cy="3971925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5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2486c17ba4d89"/>
          <a:stretch xmlns:a="http://schemas.openxmlformats.org/drawingml/2006/main"/>
        </p:blipFill>
        <p:spPr>
          <a:xfrm xmlns:a="http://schemas.openxmlformats.org/drawingml/2006/main">
            <a:off x="593723" y="2247900"/>
            <a:ext cx="7137405" cy="3781425"/>
          </a:xfrm>
          <a:prstGeom xmlns:a="http://schemas.openxmlformats.org/drawingml/2006/main" prst="roundRect">
            <a:avLst>
              <a:gd name="adj" fmla="val 20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B66561-CBAB-4FB2-B0A9-6D29740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3622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366F0"/>
                </a:solidFill>
              </a:defRPr>
            </a:pPr>
            <a:r>
              <a:rPr sz="1125" b="1">
                <a:solidFill>
                  <a:srgbClr val="3366F0"/>
                </a:solidFill>
              </a:rPr>
              <a:t>给人看的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3FAFE-D86C-4DA9-96A7-1BF85D5D2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6"/>
                </a:solidFill>
              </a:defRPr>
            </a:pPr>
            <a:r>
              <a:rPr sz="1875" b="1">
                <a:solidFill>
                  <a:srgbClr val="102636"/>
                </a:solidFill>
              </a:rPr>
              <a:t>工作复盘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E4D74B-0723-45BF-80E5-42982FFC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2420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目标、关键选择、问题、状态与下一步。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7692B-7CAD-4724-9C7F-E61531D8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905250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C9A09C-4BFA-46A7-840D-853345AC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8AF86"/>
                </a:solidFill>
              </a:defRPr>
            </a:pPr>
            <a:r>
              <a:rPr sz="1125" b="1">
                <a:solidFill>
                  <a:srgbClr val="28AF86"/>
                </a:solidFill>
              </a:rPr>
              <a:t>给 AI 看的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D6CB88-281F-47D5-BEAF-35929AD21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4958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636"/>
                </a:solidFill>
              </a:defRPr>
            </a:pPr>
            <a:r>
              <a:rPr sz="1875" b="1">
                <a:solidFill>
                  <a:srgbClr val="102636"/>
                </a:solidFill>
              </a:rPr>
              <a:t>交接报告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B5AFF3-EFB9-452A-A570-0992C6A1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33950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682"/>
                </a:solidFill>
              </a:defRPr>
            </a:pPr>
            <a:r>
              <a:rPr sz="1125" b="0">
                <a:solidFill>
                  <a:srgbClr val="647682"/>
                </a:solidFill>
              </a:rPr>
              <a:t>项目背景、用户要求、失败经验与接手起点。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7290C-C4DF-4F52-8097-E3775F33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772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765B"/>
                </a:solidFill>
              </a:defRPr>
            </a:pPr>
            <a:r>
              <a:rPr sz="1350" b="1">
                <a:solidFill>
                  <a:srgbClr val="F2765B"/>
                </a:solidFill>
              </a:rPr>
              <a:t>想开新会话，也不用重新讲一遍。</a:t>
            </a:r>
          </a:p>
        </p:txBody>
      </p:sp>
    </p:spTree>
    <p:extLst>
      <p:ext uri="{BB962C8B-B14F-4D97-AF65-F5344CB8AC3E}">
        <p14:creationId xmlns:p14="http://schemas.microsoft.com/office/powerpoint/2010/main" val="3767070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328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11E1A5-550D-4C1E-8252-0E87131E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1B5FF"/>
                </a:solidFill>
              </a:defRPr>
            </a:pPr>
            <a:r>
              <a:rPr sz="1050" b="1">
                <a:solidFill>
                  <a:srgbClr val="91B5FF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4A837B-3B7E-4694-B87F-AAF8888A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EB2C0"/>
                </a:solidFill>
              </a:defRPr>
            </a:pPr>
            <a:r>
              <a:rPr sz="900" b="1">
                <a:solidFill>
                  <a:srgbClr val="9EB2C0"/>
                </a:solidFill>
              </a:rPr>
              <a:t>未来方向 · 意识理论启发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9A5B9C-4D02-4F3B-86A0-BC73E37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33450"/>
            <a:ext cx="971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不是让 AI“有意识”，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而是让它更像一个理解你的协作者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051C8A-759B-4B73-AA41-962D7342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FC0CB"/>
                </a:solidFill>
              </a:defRPr>
            </a:pPr>
            <a:r>
              <a:rPr sz="1275" b="0">
                <a:solidFill>
                  <a:srgbClr val="AFC0CB"/>
                </a:solidFill>
              </a:rPr>
              <a:t>借鉴高阶表征、全局工作空间与预测加工，构建在线理解与离线沉淀的闭环。</a:t>
            </a:r>
          </a:p>
        </p:txBody>
      </p:sp>
      <p:sp>
        <p:nvSpPr>
          <p:cNvPr id="5" name="edge-input-working">
            <a:extLst xmlns:a="http://schemas.openxmlformats.org/drawingml/2006/main">
              <a:ext uri="{FF2B5EF4-FFF2-40B4-BE49-F238E27FC236}">
                <a16:creationId xmlns:a16="http://schemas.microsoft.com/office/drawing/2014/main" id="{07597136-C93A-4DD5-964B-95659F99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dge-working-observer">
            <a:extLst xmlns:a="http://schemas.openxmlformats.org/drawingml/2006/main">
              <a:ext uri="{FF2B5EF4-FFF2-40B4-BE49-F238E27FC236}">
                <a16:creationId xmlns:a16="http://schemas.microsoft.com/office/drawing/2014/main" id="{FEE88AC9-BA28-44F3-9557-7E02AA4C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dge-observer-memory">
            <a:extLst xmlns:a="http://schemas.openxmlformats.org/drawingml/2006/main">
              <a:ext uri="{FF2B5EF4-FFF2-40B4-BE49-F238E27FC236}">
                <a16:creationId xmlns:a16="http://schemas.microsoft.com/office/drawing/2014/main" id="{ED3EA888-8F05-4B74-823C-E6AB9254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562350"/>
            <a:ext cx="110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73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FEB735-6E80-4E98-842B-0F60F452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3432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1B5FF"/>
                </a:solidFill>
              </a:defRPr>
            </a:pPr>
            <a:r>
              <a:rPr sz="1875" b="1">
                <a:solidFill>
                  <a:srgbClr val="91B5FF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67718A-4AE5-4965-BDD6-1DA13B80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43275"/>
            <a:ext cx="457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91D8C3"/>
                </a:solidFill>
              </a:defRPr>
            </a:pPr>
            <a:r>
              <a:rPr sz="1875" b="1">
                <a:solidFill>
                  <a:srgbClr val="91D8C3"/>
                </a:solidFill>
              </a:rPr>
              <a:t>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0BEDC0-8326-4A64-BD0D-255D02DE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43275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A693"/>
                </a:solidFill>
              </a:defRPr>
            </a:pPr>
            <a:r>
              <a:rPr sz="1875" b="1">
                <a:solidFill>
                  <a:srgbClr val="F5A693"/>
                </a:solidFill>
              </a:rPr>
              <a:t>→</a:t>
            </a:r>
          </a:p>
        </p:txBody>
      </p:sp>
      <p:sp>
        <p:nvSpPr>
          <p:cNvPr id="11" name="context-node">
            <a:extLst xmlns:a="http://schemas.openxmlformats.org/drawingml/2006/main">
              <a:ext uri="{FF2B5EF4-FFF2-40B4-BE49-F238E27FC236}">
                <a16:creationId xmlns:a16="http://schemas.microsoft.com/office/drawing/2014/main" id="{F5EBC12A-F43F-4F2E-8828-53C9C961C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3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718F24-BA74-4C1E-AA02-7E4D22D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813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用户与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工作语境</a:t>
            </a:r>
          </a:p>
        </p:txBody>
      </p:sp>
      <p:sp>
        <p:nvSpPr>
          <p:cNvPr id="13" name="working-node">
            <a:extLst xmlns:a="http://schemas.openxmlformats.org/drawingml/2006/main">
              <a:ext uri="{FF2B5EF4-FFF2-40B4-BE49-F238E27FC236}">
                <a16:creationId xmlns:a16="http://schemas.microsoft.com/office/drawing/2014/main" id="{FB579D5E-77AE-42BF-AAC7-485CCE94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DFDA40-F9C5-42A5-B510-47E0E7A2D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行动脑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07FF6D-30D3-499F-B962-CAA36904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62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CE5FF"/>
                </a:solidFill>
              </a:defRPr>
            </a:pPr>
            <a:r>
              <a:rPr sz="1050" b="0">
                <a:solidFill>
                  <a:srgbClr val="DCE5FF"/>
                </a:solidFill>
              </a:rPr>
              <a:t>完成当前任务</a:t>
            </a:r>
          </a:p>
        </p:txBody>
      </p:sp>
      <p:sp>
        <p:nvSpPr>
          <p:cNvPr id="16" name="observer-node">
            <a:extLst xmlns:a="http://schemas.openxmlformats.org/drawingml/2006/main">
              <a:ext uri="{FF2B5EF4-FFF2-40B4-BE49-F238E27FC236}">
                <a16:creationId xmlns:a16="http://schemas.microsoft.com/office/drawing/2014/main" id="{5A1D500D-2EDD-44F5-A489-A06DD6E1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194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E8F5F-EC27-4F29-8F63-EFAB9DD6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1162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主体脑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E2908-52C8-4EE5-8B14-A9781FA9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623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DF6EE"/>
                </a:solidFill>
              </a:defRPr>
            </a:pPr>
            <a:r>
              <a:rPr sz="1050" b="0">
                <a:solidFill>
                  <a:srgbClr val="DDF6EE"/>
                </a:solidFill>
              </a:rPr>
              <a:t>观察与纠偏</a:t>
            </a:r>
          </a:p>
        </p:txBody>
      </p:sp>
      <p:sp>
        <p:nvSpPr>
          <p:cNvPr id="19" name="memory-node">
            <a:extLst xmlns:a="http://schemas.openxmlformats.org/drawingml/2006/main">
              <a:ext uri="{FF2B5EF4-FFF2-40B4-BE49-F238E27FC236}">
                <a16:creationId xmlns:a16="http://schemas.microsoft.com/office/drawing/2014/main" id="{F9E844E1-2616-45EB-9B23-73244D10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819400"/>
            <a:ext cx="990600" cy="990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CF7B25-DDFE-4234-96B7-05D0712D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14675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记忆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C4039A-23D1-4259-B402-78CC8B70B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1B5FF"/>
                </a:solidFill>
              </a:defRPr>
            </a:pPr>
            <a:r>
              <a:rPr sz="1500" b="1">
                <a:solidFill>
                  <a:srgbClr val="91B5FF"/>
                </a:solidFill>
              </a:rPr>
              <a:t>理解用户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5F0E6-E675-4675-838B-9BF64866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1D8C3"/>
                </a:solidFill>
              </a:defRPr>
            </a:pPr>
            <a:r>
              <a:rPr sz="1500" b="1">
                <a:solidFill>
                  <a:srgbClr val="91D8C3"/>
                </a:solidFill>
              </a:rPr>
              <a:t>发现偏离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055A50-B9CF-4B78-8668-78DD753E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9590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5A693"/>
                </a:solidFill>
              </a:defRPr>
            </a:pPr>
            <a:r>
              <a:rPr sz="1500" b="1">
                <a:solidFill>
                  <a:srgbClr val="F5A693"/>
                </a:solidFill>
              </a:rPr>
              <a:t>形成连续性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D7725E-2525-476A-8432-A73D7010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6038850"/>
            <a:ext cx="2914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更懂语境，也更会合作。</a:t>
            </a:r>
          </a:p>
        </p:txBody>
      </p:sp>
    </p:spTree>
    <p:extLst>
      <p:ext uri="{BB962C8B-B14F-4D97-AF65-F5344CB8AC3E}">
        <p14:creationId xmlns:p14="http://schemas.microsoft.com/office/powerpoint/2010/main" val="1992594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8ECEAB-E5C8-403F-9694-91350D57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3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366F0"/>
                </a:solidFill>
              </a:defRPr>
            </a:pPr>
            <a:r>
              <a:rPr sz="1050" b="1">
                <a:solidFill>
                  <a:srgbClr val="3366F0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D60506-345E-43BA-BB6D-F2F09031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未来场景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DA28DC-09A0-4BFC-ABEF-A2351DE9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238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47682"/>
                </a:solidFill>
              </a:defRPr>
            </a:pPr>
            <a:r>
              <a:rPr sz="900" b="1">
                <a:solidFill>
                  <a:srgbClr val="647682"/>
                </a:solidFill>
              </a:rPr>
              <a:t>ALPHA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6D67B-CADE-4957-8640-A02012B6C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636"/>
                </a:solidFill>
              </a:defRPr>
            </a:pPr>
            <a:r>
              <a:rPr sz="2550" b="1">
                <a:solidFill>
                  <a:srgbClr val="102636"/>
                </a:solidFill>
              </a:rPr>
              <a:t>让 Agent 从办公工具，走向长期协作伙伴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E84D1D-40FA-49E9-AE7D-935153ABA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668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更主动、更理解语境，也能陪用户演练复杂场景。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0E417E-3BA8-46CB-8936-EC09235E4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66F0"/>
                </a:solidFill>
              </a:defRPr>
            </a:pPr>
            <a:r>
              <a:rPr sz="1350" b="1">
                <a:solidFill>
                  <a:srgbClr val="3366F0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9DE14-D407-4CFA-9014-0346F91C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桌宠式助手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183AF-CEBE-41FC-A4E4-0FE6A987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在工作过程中实时观察，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在合适的时候给出建议。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F31E0B-FFA1-4A03-A6F6-0E80247A8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C1499-264A-4872-B6EB-987E9633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366F0"/>
                </a:solidFill>
              </a:defRPr>
            </a:pPr>
            <a:r>
              <a:rPr sz="1275" b="1">
                <a:solidFill>
                  <a:srgbClr val="3366F0"/>
                </a:solidFill>
              </a:rPr>
              <a:t>从“等你提问”到“主动发现”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1CF5B-1412-4F18-A29C-FAA001431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AF86"/>
                </a:solidFill>
              </a:defRPr>
            </a:pPr>
            <a:r>
              <a:rPr sz="1350" b="1">
                <a:solidFill>
                  <a:srgbClr val="28AF8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CCA246-F693-47E5-A8CD-301AC119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沙盘模式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2FE3F-8905-44BB-AD4C-CA72C6B3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输入背景与角色，模拟面试、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演讲、谈判等真实情境。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181A25-1B91-4A12-AD86-F440586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F8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7D1873-7BAA-4800-81AA-A4C8C805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8AF86"/>
                </a:solidFill>
              </a:defRPr>
            </a:pPr>
            <a:r>
              <a:rPr sz="1275" b="1">
                <a:solidFill>
                  <a:srgbClr val="28AF86"/>
                </a:solidFill>
              </a:rPr>
              <a:t>先在安全环境中练一遍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302DD-37D3-4167-93E8-8A890C66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765B"/>
                </a:solidFill>
              </a:defRPr>
            </a:pPr>
            <a:r>
              <a:rPr sz="1350" b="1">
                <a:solidFill>
                  <a:srgbClr val="F2765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C137C7-CBCD-4073-9553-234201F4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636"/>
                </a:solidFill>
              </a:defRPr>
            </a:pPr>
            <a:r>
              <a:rPr sz="2100" b="1">
                <a:solidFill>
                  <a:srgbClr val="102636"/>
                </a:solidFill>
              </a:rPr>
              <a:t>多 Agent 互动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4800A-EE73-4D37-B006-49A2034C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9565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不同 Agent 扮演不同角色，</a:t>
            </a:r>
          </a:p>
          <a:p xmlns:a="http://schemas.openxmlformats.org/drawingml/2006/main">
            <a:pPr algn="l">
              <a:defRPr sz="1275" b="0">
                <a:solidFill>
                  <a:srgbClr val="647682"/>
                </a:solidFill>
              </a:defRPr>
            </a:pPr>
            <a:r>
              <a:rPr sz="1275" b="0">
                <a:solidFill>
                  <a:srgbClr val="647682"/>
                </a:solidFill>
              </a:rPr>
              <a:t>协作、质疑、反馈和复盘。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9D57A2-01B7-4CC1-9A82-48DDCC2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62450"/>
            <a:ext cx="3124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76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50FC1D-9CE7-4B9B-A28F-8243CAC68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529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2765B"/>
                </a:solidFill>
              </a:defRPr>
            </a:pPr>
            <a:r>
              <a:rPr sz="1275" b="1">
                <a:solidFill>
                  <a:srgbClr val="F2765B"/>
                </a:solidFill>
              </a:rPr>
              <a:t>把复杂任务变成可观察的互动</a:t>
            </a:r>
          </a:p>
        </p:txBody>
      </p:sp>
      <p:sp>
        <p:nvSpPr>
          <p:cNvPr id="21" name="closing-strip">
            <a:extLst xmlns:a="http://schemas.openxmlformats.org/drawingml/2006/main">
              <a:ext uri="{FF2B5EF4-FFF2-40B4-BE49-F238E27FC236}">
                <a16:creationId xmlns:a16="http://schemas.microsoft.com/office/drawing/2014/main" id="{2A9EA334-56A8-4E86-B46C-4148CC96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109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328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310CA4-52B7-4D07-B901-CEC73EAA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43575"/>
            <a:ext cx="10515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Alpha 的方向：让 AI 更懂你的工作，也更懂如何与你一起工作。</a:t>
            </a:r>
          </a:p>
        </p:txBody>
      </p:sp>
    </p:spTree>
    <p:extLst>
      <p:ext uri="{BB962C8B-B14F-4D97-AF65-F5344CB8AC3E}">
        <p14:creationId xmlns:p14="http://schemas.microsoft.com/office/powerpoint/2010/main" val="6649291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2026-07-24T05:23:03.7030000Z</dcterms:created>
  <dcterms:modified xsi:type="dcterms:W3CDTF">2026-07-24T05:23:03.7030000Z</dcterms:modified>
</coreProperties>
</file>