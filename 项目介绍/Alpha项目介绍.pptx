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eff7107517418e" /><Relationship Type="http://schemas.openxmlformats.org/officeDocument/2006/relationships/extended-properties" Target="/docProps/app.xml" Id="R34d848c6c6844c44" /><Relationship Type="http://schemas.openxmlformats.org/officeDocument/2006/relationships/officeDocument" Target="/ppt/presentation.xml" Id="R592707dd546d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9822e264fb4a42"/>
  </p:sldMasterIdLst>
  <p:notesMasterIdLst>
    <p:notesMasterId xmlns:r="http://schemas.openxmlformats.org/officeDocument/2006/relationships" r:id="R7aa3efd43f964c97"/>
  </p:notesMasterIdLst>
  <p:sldIdLst>
    <p:sldId xmlns:r="http://schemas.openxmlformats.org/officeDocument/2006/relationships" id="256" r:id="R6c3d72b8e53f41a8"/>
    <p:sldId xmlns:r="http://schemas.openxmlformats.org/officeDocument/2006/relationships" id="257" r:id="R00ac3dac5fb94568"/>
    <p:sldId xmlns:r="http://schemas.openxmlformats.org/officeDocument/2006/relationships" id="258" r:id="R9bb9de5e57694002"/>
    <p:sldId xmlns:r="http://schemas.openxmlformats.org/officeDocument/2006/relationships" id="259" r:id="Rde855eabca784fe9"/>
    <p:sldId xmlns:r="http://schemas.openxmlformats.org/officeDocument/2006/relationships" id="260" r:id="R04331071f4b84d40"/>
    <p:sldId xmlns:r="http://schemas.openxmlformats.org/officeDocument/2006/relationships" id="261" r:id="R945b0025338a4f49"/>
    <p:sldId xmlns:r="http://schemas.openxmlformats.org/officeDocument/2006/relationships" id="262" r:id="R36f9183d6ea746ab"/>
    <p:sldId xmlns:r="http://schemas.openxmlformats.org/officeDocument/2006/relationships" id="263" r:id="Rf8a146e43f604cc7"/>
    <p:sldId xmlns:r="http://schemas.openxmlformats.org/officeDocument/2006/relationships" id="264" r:id="R92761411daef40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d72f966cb04d19" /><Relationship Type="http://schemas.openxmlformats.org/officeDocument/2006/relationships/slideMaster" Target="/ppt/slideMasters/slideMaster1.xml" Id="Ra19822e264fb4a42" /><Relationship Type="http://schemas.openxmlformats.org/officeDocument/2006/relationships/notesMaster" Target="/ppt/notesMasters/notesMaster1.xml" Id="R7aa3efd43f964c97" /><Relationship Type="http://schemas.openxmlformats.org/officeDocument/2006/relationships/presProps" Target="/ppt/presProps.xml" Id="Rfd347df211304900" /><Relationship Type="http://schemas.openxmlformats.org/officeDocument/2006/relationships/tableStyles" Target="/ppt/tableStyles.xml" Id="R4219fc90f12e48c1" /><Relationship Type="http://schemas.openxmlformats.org/officeDocument/2006/relationships/slide" Target="/ppt/slides/slide1.xml" Id="R6c3d72b8e53f41a8" /><Relationship Type="http://schemas.openxmlformats.org/officeDocument/2006/relationships/slide" Target="/ppt/slides/slide2.xml" Id="R00ac3dac5fb94568" /><Relationship Type="http://schemas.openxmlformats.org/officeDocument/2006/relationships/slide" Target="/ppt/slides/slide3.xml" Id="R9bb9de5e57694002" /><Relationship Type="http://schemas.openxmlformats.org/officeDocument/2006/relationships/slide" Target="/ppt/slides/slide4.xml" Id="Rde855eabca784fe9" /><Relationship Type="http://schemas.openxmlformats.org/officeDocument/2006/relationships/slide" Target="/ppt/slides/slide5.xml" Id="R04331071f4b84d40" /><Relationship Type="http://schemas.openxmlformats.org/officeDocument/2006/relationships/slide" Target="/ppt/slides/slide6.xml" Id="R945b0025338a4f49" /><Relationship Type="http://schemas.openxmlformats.org/officeDocument/2006/relationships/slide" Target="/ppt/slides/slide7.xml" Id="R36f9183d6ea746ab" /><Relationship Type="http://schemas.openxmlformats.org/officeDocument/2006/relationships/slide" Target="/ppt/slides/slide8.xml" Id="Rf8a146e43f604cc7" /><Relationship Type="http://schemas.openxmlformats.org/officeDocument/2006/relationships/slide" Target="/ppt/slides/slide9.xml" Id="R92761411daef40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7d7eed9de340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917f35f4548ca" /><Relationship Type="http://schemas.openxmlformats.org/officeDocument/2006/relationships/notesMaster" Target="/ppt/notesMasters/notesMaster1.xml" Id="Rd7f865e3389643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042c3556b147a3" /><Relationship Type="http://schemas.openxmlformats.org/officeDocument/2006/relationships/notesMaster" Target="/ppt/notesMasters/notesMaster1.xml" Id="Rf47605b6955344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145896c7bf4527" /><Relationship Type="http://schemas.openxmlformats.org/officeDocument/2006/relationships/notesMaster" Target="/ppt/notesMasters/notesMaster1.xml" Id="R59d9073ff5d84b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70902b554a4e39" /><Relationship Type="http://schemas.openxmlformats.org/officeDocument/2006/relationships/notesMaster" Target="/ppt/notesMasters/notesMaster1.xml" Id="R7c5e8837771a4b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c3f142c8d84bdc" /><Relationship Type="http://schemas.openxmlformats.org/officeDocument/2006/relationships/notesMaster" Target="/ppt/notesMasters/notesMaster1.xml" Id="Rcb553dcc826a49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638300c5e74a43" /><Relationship Type="http://schemas.openxmlformats.org/officeDocument/2006/relationships/notesMaster" Target="/ppt/notesMasters/notesMaster1.xml" Id="R3a58fda8026b45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ff5ab3980c4b4d" /><Relationship Type="http://schemas.openxmlformats.org/officeDocument/2006/relationships/notesMaster" Target="/ppt/notesMasters/notesMaster1.xml" Id="R9f1fbfc03cbc4e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5622a93ed044c4" /><Relationship Type="http://schemas.openxmlformats.org/officeDocument/2006/relationships/notesMaster" Target="/ppt/notesMasters/notesMaster1.xml" Id="Ra9e7a1b351404e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4c5ae9cfab4d22" /><Relationship Type="http://schemas.openxmlformats.org/officeDocument/2006/relationships/notesMaster" Target="/ppt/notesMasters/notesMaster1.xml" Id="Racecbb44e7cb47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548d1f30243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8eeb5491b44dd8" /><Relationship Type="http://schemas.openxmlformats.org/officeDocument/2006/relationships/slideLayout" Target="/ppt/slideLayouts/slideLayout1.xml" Id="Rc5c26f5ce53c4b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c26f5ce53c4b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31601683146fd" /><Relationship Type="http://schemas.openxmlformats.org/officeDocument/2006/relationships/notesSlide" Target="/ppt/notesSlides/notesSlide1.xml" Id="Rbe2dcee7e91840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093cbb2a1490e" /><Relationship Type="http://schemas.openxmlformats.org/officeDocument/2006/relationships/notesSlide" Target="/ppt/notesSlides/notesSlide2.xml" Id="Raf6f44e66dcb4a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f35825f6a4a11" /><Relationship Type="http://schemas.openxmlformats.org/officeDocument/2006/relationships/image" Target="/ppt/media/image.png" Id="R9dab6ee8ae7141f8" /><Relationship Type="http://schemas.openxmlformats.org/officeDocument/2006/relationships/notesSlide" Target="/ppt/notesSlides/notesSlide3.xml" Id="R5becfb2dddff45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751aea8ab410d" /><Relationship Type="http://schemas.openxmlformats.org/officeDocument/2006/relationships/image" Target="/ppt/media/image2.png" Id="R552b7aa8f8294c66" /><Relationship Type="http://schemas.openxmlformats.org/officeDocument/2006/relationships/notesSlide" Target="/ppt/notesSlides/notesSlide4.xml" Id="R9aab928fff2a4f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0255ca3854cb7" /><Relationship Type="http://schemas.openxmlformats.org/officeDocument/2006/relationships/image" Target="/ppt/media/image3.png" Id="Rde4b16727f7748be" /><Relationship Type="http://schemas.openxmlformats.org/officeDocument/2006/relationships/notesSlide" Target="/ppt/notesSlides/notesSlide5.xml" Id="Rd7025b7e43fc49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0cbcce4a242f9" /><Relationship Type="http://schemas.openxmlformats.org/officeDocument/2006/relationships/image" Target="/ppt/media/image4.png" Id="R1c96d527691a4dea" /><Relationship Type="http://schemas.openxmlformats.org/officeDocument/2006/relationships/notesSlide" Target="/ppt/notesSlides/notesSlide6.xml" Id="Rc2f784906d9540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54d82913a4074" /><Relationship Type="http://schemas.openxmlformats.org/officeDocument/2006/relationships/image" Target="/ppt/media/image5.png" Id="R220b233632454480" /><Relationship Type="http://schemas.openxmlformats.org/officeDocument/2006/relationships/notesSlide" Target="/ppt/notesSlides/notesSlide7.xml" Id="Rfcb5499d0bc741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7b15aa2454972" /><Relationship Type="http://schemas.openxmlformats.org/officeDocument/2006/relationships/notesSlide" Target="/ppt/notesSlides/notesSlide8.xml" Id="R7d094748e0ec40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dccbe8a2049fa" /><Relationship Type="http://schemas.openxmlformats.org/officeDocument/2006/relationships/notesSlide" Target="/ppt/notesSlides/notesSlide9.xml" Id="Rde1c4849bf8245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dark">
            <a:extLst xmlns:a="http://schemas.openxmlformats.org/drawingml/2006/main">
              <a:ext uri="{FF2B5EF4-FFF2-40B4-BE49-F238E27FC236}">
                <a16:creationId xmlns:a16="http://schemas.microsoft.com/office/drawing/2014/main" id="{F7D866E2-D3CB-4B7B-8249-8293F5BA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2C76D-6BB4-4D08-95C2-39DAB788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C9FF"/>
                </a:solidFill>
              </a:defRPr>
            </a:pPr>
            <a:r>
              <a:rPr sz="1125" b="1">
                <a:solidFill>
                  <a:srgbClr val="8FC9FF"/>
                </a:solidFill>
              </a:rPr>
              <a:t>ALPHA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371F03E-E0BA-467D-B40A-C9CF851B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聚焦知识工作的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办公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D0933-950A-4D58-946B-0EDAEC41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90DCD-239C-48EB-9C46-F74FDFA5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4EC"/>
                </a:solidFill>
              </a:defRPr>
            </a:pPr>
            <a:r>
              <a:rPr sz="1650" b="0">
                <a:solidFill>
                  <a:srgbClr val="D9E4EC"/>
                </a:solidFill>
              </a:rPr>
              <a:t>让 AI 不只回答问题，</a:t>
            </a:r>
          </a:p>
          <a:p xmlns:a="http://schemas.openxmlformats.org/drawingml/2006/main">
            <a:pPr algn="l">
              <a:defRPr sz="1650" b="0">
                <a:solidFill>
                  <a:srgbClr val="D9E4EC"/>
                </a:solidFill>
              </a:defRPr>
            </a:pPr>
            <a:r>
              <a:rPr sz="1650" b="0">
                <a:solidFill>
                  <a:srgbClr val="D9E4EC"/>
                </a:solidFill>
              </a:rPr>
              <a:t>而是真正进入工作。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F3590-B768-404B-8B36-C06ADEBB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A5B4"/>
                </a:solidFill>
              </a:defRPr>
            </a:pPr>
            <a:r>
              <a:rPr sz="900" b="1">
                <a:solidFill>
                  <a:srgbClr val="8FA5B4"/>
                </a:solidFill>
              </a:rPr>
              <a:t>PRODUCT OVERVIEW  · 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D1715-FA2D-47FC-862F-4D196932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047750"/>
            <a:ext cx="533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AI 应用的价值，</a:t>
            </a:r>
          </a:p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发生在“最后一公里”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05755-01EB-4335-AE8D-614BFA60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66F0"/>
                </a:solidFill>
              </a:defRPr>
            </a:pPr>
            <a:r>
              <a:rPr sz="1650" b="1">
                <a:solidFill>
                  <a:srgbClr val="3366F0"/>
                </a:solidFill>
              </a:rPr>
              <a:t>已有数据积累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DF152-F2BB-405B-A27C-41B68A44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38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AF86"/>
                </a:solidFill>
              </a:defRPr>
            </a:pPr>
            <a:r>
              <a:rPr sz="1650" b="1">
                <a:solidFill>
                  <a:srgbClr val="28AF86"/>
                </a:solidFill>
              </a:rPr>
              <a:t>经验持续沉淀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EEC96-CCD4-48AF-87E5-1C8B1302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86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765B"/>
                </a:solidFill>
              </a:defRPr>
            </a:pPr>
            <a:r>
              <a:rPr sz="1650" b="1">
                <a:solidFill>
                  <a:srgbClr val="F2765B"/>
                </a:solidFill>
              </a:rPr>
              <a:t>交互自然便利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C3111-656F-46A6-B0AC-8BE8C994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387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682"/>
                </a:solidFill>
              </a:defRPr>
            </a:pPr>
            <a:r>
              <a:rPr sz="1350" b="0">
                <a:solidFill>
                  <a:srgbClr val="647682"/>
                </a:solidFill>
              </a:rPr>
              <a:t>Alpha 把通用 Agent 能力收束到具体办公场景。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18331-DC7B-498D-9F10-234611D6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14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2F550-3A60-48A1-A857-4C20DFBB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571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CEB8F-6AF0-41FD-99F5-368499FE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100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C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7056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50A7D-A388-417A-9419-75648753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6131B-270F-4C20-8429-C5546892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为什么是现在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70C2C-FAA4-4208-B27B-F0B3B8BC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F3F8F-EC59-472F-954C-A90E110A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636"/>
                </a:solidFill>
              </a:defRPr>
            </a:pPr>
            <a:r>
              <a:rPr sz="2700" b="1">
                <a:solidFill>
                  <a:srgbClr val="102636"/>
                </a:solidFill>
              </a:rPr>
              <a:t>Agent 的基础能力正在标准化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CF94D-E543-4BC8-911E-E659BDFE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682"/>
                </a:solidFill>
              </a:defRPr>
            </a:pPr>
            <a:r>
              <a:rPr sz="1350" b="0">
                <a:solidFill>
                  <a:srgbClr val="647682"/>
                </a:solidFill>
              </a:rPr>
              <a:t>ReAct、工具调用、运行时与沙箱逐渐成为共同底座。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35045-25DA-468D-B3C9-30251E5F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66F0"/>
                </a:solidFill>
              </a:defRPr>
            </a:pPr>
            <a:r>
              <a:rPr sz="975" b="1">
                <a:solidFill>
                  <a:srgbClr val="3366F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8440E-2E08-4DB7-820C-CB40BFAA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12936-B676-43B2-982D-CDA80348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6"/>
                </a:solidFill>
              </a:defRPr>
            </a:pPr>
            <a:r>
              <a:rPr sz="1725" b="1">
                <a:solidFill>
                  <a:srgbClr val="102636"/>
                </a:solidFill>
              </a:rPr>
              <a:t>ReAct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1304D-97D8-446E-B7B5-99A64762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思考与行动循环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5DC05-0B1B-4FB7-92D9-5F5F18A2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66F0"/>
                </a:solidFill>
              </a:defRPr>
            </a:pPr>
            <a:r>
              <a:rPr sz="975" b="1">
                <a:solidFill>
                  <a:srgbClr val="3366F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3D478-2780-4B73-B754-629BD020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908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9749B-16F8-4C5E-B4EA-E08E4787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004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6"/>
                </a:solidFill>
              </a:defRPr>
            </a:pPr>
            <a:r>
              <a:rPr sz="1725" b="1">
                <a:solidFill>
                  <a:srgbClr val="102636"/>
                </a:solidFill>
              </a:rPr>
              <a:t>工具调用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7EE31-C1AC-4A90-9015-F2915595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19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连接真实工作对象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78FB3-BA06-48A1-B1A3-C8EAEC51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28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66F0"/>
                </a:solidFill>
              </a:defRPr>
            </a:pPr>
            <a:r>
              <a:rPr sz="975" b="1">
                <a:solidFill>
                  <a:srgbClr val="3366F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EBB87-6091-4DF7-9497-FB1503E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8EFEF-6237-4578-84F8-FE4E816C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6"/>
                </a:solidFill>
              </a:defRPr>
            </a:pPr>
            <a:r>
              <a:rPr sz="1725" b="1">
                <a:solidFill>
                  <a:srgbClr val="102636"/>
                </a:solidFill>
              </a:rPr>
              <a:t>运行时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02F63-418D-45B0-85D8-D53E7709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19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持续推进复杂任务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EFE96-2351-4EDA-A33C-F3480756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66F0"/>
                </a:solidFill>
              </a:defRPr>
            </a:pPr>
            <a:r>
              <a:rPr sz="975" b="1">
                <a:solidFill>
                  <a:srgbClr val="3366F0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0767B-C7CA-4EF5-B136-41FB3A65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E3AD9-A540-4ECE-9A7B-33599C97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6"/>
                </a:solidFill>
              </a:defRPr>
            </a:pPr>
            <a:r>
              <a:rPr sz="1725" b="1">
                <a:solidFill>
                  <a:srgbClr val="102636"/>
                </a:solidFill>
              </a:rPr>
              <a:t>沙箱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67899-8D3C-40E6-A7D9-8EB2E7BA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控制权限与边界</a:t>
            </a:r>
          </a:p>
        </p:txBody>
      </p:sp>
      <p:sp>
        <p:nvSpPr>
          <p:cNvPr id="22" name="last-mile">
            <a:extLst xmlns:a="http://schemas.openxmlformats.org/drawingml/2006/main">
              <a:ext uri="{FF2B5EF4-FFF2-40B4-BE49-F238E27FC236}">
                <a16:creationId xmlns:a16="http://schemas.microsoft.com/office/drawing/2014/main" id="{FF4B265C-5A4B-4A90-A25B-85DA7B8A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981200" cy="22860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3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19A5C-7983-4E44-A0DE-9E35F97F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860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最后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一公里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054539-150C-4ECF-89A8-2157B6E9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10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1D8C3"/>
                </a:solidFill>
              </a:defRPr>
            </a:pPr>
            <a:r>
              <a:rPr sz="1200" b="1">
                <a:solidFill>
                  <a:srgbClr val="91D8C3"/>
                </a:solidFill>
              </a:rPr>
              <a:t>场景 Know-how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893DC-2BFB-4C42-9589-49F30771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636"/>
                </a:solidFill>
              </a:defRPr>
            </a:pPr>
            <a:r>
              <a:rPr sz="2025" b="1">
                <a:solidFill>
                  <a:srgbClr val="102636"/>
                </a:solidFill>
              </a:rPr>
              <a:t>决定价值的，不再只是模型有多强，</a:t>
            </a:r>
          </a:p>
          <a:p xmlns:a="http://schemas.openxmlformats.org/drawingml/2006/main">
            <a:pPr algn="l">
              <a:defRPr sz="2025" b="1">
                <a:solidFill>
                  <a:srgbClr val="102636"/>
                </a:solidFill>
              </a:defRPr>
            </a:pPr>
            <a:r>
              <a:rPr sz="2025" b="1">
                <a:solidFill>
                  <a:srgbClr val="102636"/>
                </a:solidFill>
              </a:rPr>
              <a:t>而是它是否真正懂你的工作。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BF6F49-7D00-4DB5-B7AF-84C74DCF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1010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6F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1204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FC1E4-A9E5-4E9B-ACF1-375546D7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94775-EC6E-4E0C-B32E-30F9260C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产品定位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847A6-4545-48A9-A721-D54CCAE9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6FEDC-8BA3-4DEB-B87C-3521F1CD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一个能直接进入工作现场的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A743A-FFF9-4C01-9D8F-9250FA50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理解材料、调用能力、查看文件、交付结果，都在同一工作空间完成。</a:t>
            </a:r>
          </a:p>
        </p:txBody>
      </p:sp>
      <p:sp>
        <p:nvSpPr>
          <p:cNvPr id="6" name="workspace-preview-frame">
            <a:extLst xmlns:a="http://schemas.openxmlformats.org/drawingml/2006/main">
              <a:ext uri="{FF2B5EF4-FFF2-40B4-BE49-F238E27FC236}">
                <a16:creationId xmlns:a16="http://schemas.microsoft.com/office/drawing/2014/main" id="{03497E55-8F6A-4B56-90C4-6C9DD4F1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6838950" cy="3705225"/>
          </a:xfrm>
          <a:prstGeom xmlns:a="http://schemas.openxmlformats.org/drawingml/2006/main" prst="roundRect">
            <a:avLst>
              <a:gd name="adj" fmla="val 3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b6ee8ae7141f8"/>
          <a:stretch xmlns:a="http://schemas.openxmlformats.org/drawingml/2006/main"/>
        </p:blipFill>
        <p:spPr>
          <a:xfrm xmlns:a="http://schemas.openxmlformats.org/drawingml/2006/main">
            <a:off x="4959781" y="2209800"/>
            <a:ext cx="6634887" cy="3514725"/>
          </a:xfrm>
          <a:prstGeom xmlns:a="http://schemas.openxmlformats.org/drawingml/2006/main" prst="roundRect">
            <a:avLst>
              <a:gd name="adj" fmla="val 216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B8E38-2656-4951-A30D-D9CFC4C8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66F0"/>
                </a:solidFill>
              </a:defRPr>
            </a:pPr>
            <a:r>
              <a:rPr sz="1125" b="1">
                <a:solidFill>
                  <a:srgbClr val="3366F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41202-8273-464F-8AFC-DF1501C0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36"/>
                </a:solidFill>
              </a:defRPr>
            </a:pPr>
            <a:r>
              <a:rPr sz="1650" b="1">
                <a:solidFill>
                  <a:srgbClr val="102636"/>
                </a:solidFill>
              </a:rPr>
              <a:t>理解已有资料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40BAF-CF01-4621-B2C4-7B7BA818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不从空白开始，先读懂项目。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0E03D-2D59-4032-A114-85D5C3BE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AF86"/>
                </a:solidFill>
              </a:defRPr>
            </a:pPr>
            <a:r>
              <a:rPr sz="1125" b="1">
                <a:solidFill>
                  <a:srgbClr val="28AF8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92C1B-BF0E-4BB5-86D8-A6592D7F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36"/>
                </a:solidFill>
              </a:defRPr>
            </a:pPr>
            <a:r>
              <a:rPr sz="1650" b="1">
                <a:solidFill>
                  <a:srgbClr val="102636"/>
                </a:solidFill>
              </a:rPr>
              <a:t>直接完成操作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4602A-E39A-4581-B98C-38D7FA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不是只给建议，而是交付文件。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5211C-5AD8-4848-8DAD-0BF132A8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765B"/>
                </a:solidFill>
              </a:defRPr>
            </a:pPr>
            <a:r>
              <a:rPr sz="1125" b="1">
                <a:solidFill>
                  <a:srgbClr val="F2765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522F3-A3D6-471C-B8D1-C3534225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36"/>
                </a:solidFill>
              </a:defRPr>
            </a:pPr>
            <a:r>
              <a:rPr sz="1650" b="1">
                <a:solidFill>
                  <a:srgbClr val="102636"/>
                </a:solidFill>
              </a:rPr>
              <a:t>让经验留下来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84626-519B-4FD2-BA71-6DE0C2A1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会话、项目和成果持续衔接。</a:t>
            </a:r>
          </a:p>
        </p:txBody>
      </p:sp>
    </p:spTree>
    <p:extLst>
      <p:ext uri="{BB962C8B-B14F-4D97-AF65-F5344CB8AC3E}">
        <p14:creationId xmlns:p14="http://schemas.microsoft.com/office/powerpoint/2010/main" val="244085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8DB0F-B437-446A-8E50-64E60795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209AC-5B3B-4727-A565-F913D294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知识库模式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32DF7-26AB-4B53-A033-BAE7E084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5FEB3-4687-4A8F-92AE-C58808FF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一键把文档变成持续生长的知识库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53C1B-944D-488C-B358-9754D878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不只是“放进去”，还会发现资料之间的联系，并持续更新维护。</a:t>
            </a:r>
          </a:p>
        </p:txBody>
      </p:sp>
      <p:sp>
        <p:nvSpPr>
          <p:cNvPr id="6" name="knowledge-base-frame">
            <a:extLst xmlns:a="http://schemas.openxmlformats.org/drawingml/2006/main">
              <a:ext uri="{FF2B5EF4-FFF2-40B4-BE49-F238E27FC236}">
                <a16:creationId xmlns:a16="http://schemas.microsoft.com/office/drawing/2014/main" id="{88235598-B99B-431A-B357-95DD3FA1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742950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b7aa8f8294c66"/>
          <a:stretch xmlns:a="http://schemas.openxmlformats.org/drawingml/2006/main"/>
        </p:blipFill>
        <p:spPr>
          <a:xfrm xmlns:a="http://schemas.openxmlformats.org/drawingml/2006/main">
            <a:off x="599682" y="2238375"/>
            <a:ext cx="7220736" cy="3829050"/>
          </a:xfrm>
          <a:prstGeom xmlns:a="http://schemas.openxmlformats.org/drawingml/2006/main" prst="roundRect">
            <a:avLst>
              <a:gd name="adj" fmla="val 199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713AB-043B-46AE-8EB5-3573AE6F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3B2CF-8CC7-4C5F-9C4F-D0626742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03F5B-6D40-49EE-B0EF-52EFC335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6"/>
                </a:solidFill>
              </a:defRPr>
            </a:pPr>
            <a:r>
              <a:rPr sz="1500" b="1">
                <a:solidFill>
                  <a:srgbClr val="102636"/>
                </a:solidFill>
              </a:rPr>
              <a:t>一键创建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5D77E-9664-4B14-8B95-2C9C31DF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已有项目或空项目，都能快速起步。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86E6D-EFC2-46EE-8D54-4EBCE6EE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E9125-CEB7-4368-9F5E-FBB42B63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5BE2E-168A-49A3-9F09-6F1F1EB5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48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6"/>
                </a:solidFill>
              </a:defRPr>
            </a:pPr>
            <a:r>
              <a:rPr sz="1500" b="1">
                <a:solidFill>
                  <a:srgbClr val="102636"/>
                </a:solidFill>
              </a:rPr>
              <a:t>发现联系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40BF8-98E3-419A-B3C5-C2D8CD27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719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把分散文档整理成可查询的知识网络。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8AFB3-262B-4FF4-88C5-3A160707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A1303-8D4B-48B3-967D-4F85D095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A48DC-A0B4-4105-B6A5-C8094D7A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52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6"/>
                </a:solidFill>
              </a:defRPr>
            </a:pPr>
            <a:r>
              <a:rPr sz="1500" b="1">
                <a:solidFill>
                  <a:srgbClr val="102636"/>
                </a:solidFill>
              </a:rPr>
              <a:t>持续维护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1161D-3ADA-4408-8B4C-C52C1C58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76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增加、移除、全局整理，知识随工作生长。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EA31C-42D6-4783-B845-9D9D06FD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34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36"/>
                </a:solidFill>
              </a:defRPr>
            </a:pPr>
            <a:r>
              <a:rPr sz="1350" b="1">
                <a:solidFill>
                  <a:srgbClr val="102636"/>
                </a:solidFill>
              </a:rPr>
              <a:t>你的资料，不再只是文件夹。</a:t>
            </a:r>
          </a:p>
        </p:txBody>
      </p:sp>
    </p:spTree>
    <p:extLst>
      <p:ext uri="{BB962C8B-B14F-4D97-AF65-F5344CB8AC3E}">
        <p14:creationId xmlns:p14="http://schemas.microsoft.com/office/powerpoint/2010/main" val="601534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512C7-E13C-4EF3-B289-8DC00C22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877DD-AA34-43B8-B54D-4A4F9C87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办公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A31BD-A9D9-40A6-BCF9-691D8E35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72DD7-74DA-4F68-BF9A-885E8667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不用打开 Office，也能直接编辑文档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F08D6-201D-496E-82B0-975D0290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预装文档处理 Skill 与依赖，让 AI 从“告诉你怎么做”变成“替你完成”。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E0685-8EFB-4E74-8F9E-501DC547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636"/>
                </a:solidFill>
              </a:defRPr>
            </a:pPr>
            <a:r>
              <a:rPr sz="1800" b="1">
                <a:solidFill>
                  <a:srgbClr val="102636"/>
                </a:solidFill>
              </a:rPr>
              <a:t>一句话交代目标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B57EC-43B4-4458-9709-11ECE71A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682"/>
                </a:solidFill>
              </a:defRPr>
            </a:pPr>
            <a:r>
              <a:rPr sz="1350" b="0">
                <a:solidFill>
                  <a:srgbClr val="647682"/>
                </a:solidFill>
              </a:rPr>
              <a:t>创建、修改、排版、预览、导出，</a:t>
            </a:r>
          </a:p>
          <a:p xmlns:a="http://schemas.openxmlformats.org/drawingml/2006/main">
            <a:pPr algn="l">
              <a:defRPr sz="1350" b="0">
                <a:solidFill>
                  <a:srgbClr val="647682"/>
                </a:solidFill>
              </a:defRPr>
            </a:pPr>
            <a:r>
              <a:rPr sz="1350" b="0">
                <a:solidFill>
                  <a:srgbClr val="647682"/>
                </a:solidFill>
              </a:rPr>
              <a:t>都可以在工作区内完成。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2D73D-3E1D-4822-9721-F679B9FA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96891-59C6-4CA7-A264-BD7B0BFD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66F0"/>
                </a:solidFill>
              </a:defRPr>
            </a:pPr>
            <a:r>
              <a:rPr sz="1275" b="1">
                <a:solidFill>
                  <a:srgbClr val="3366F0"/>
                </a:solidFill>
              </a:rPr>
              <a:t>PPTX  ·  DOCX  ·  XLSX  · 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AF1C3-A9C0-4F8F-A533-8068E06B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AF86"/>
                </a:solidFill>
              </a:defRPr>
            </a:pPr>
            <a:r>
              <a:rPr sz="1650" b="1">
                <a:solidFill>
                  <a:srgbClr val="28AF86"/>
                </a:solidFill>
              </a:rPr>
              <a:t>无需登录 Office 软件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A42C0-6054-4FBF-AB8C-DCB1203E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结果仍是可继续编辑的标准办公文件。</a:t>
            </a:r>
          </a:p>
        </p:txBody>
      </p:sp>
      <p:sp>
        <p:nvSpPr>
          <p:cNvPr id="12" name="ppt-processing-frame">
            <a:extLst xmlns:a="http://schemas.openxmlformats.org/drawingml/2006/main">
              <a:ext uri="{FF2B5EF4-FFF2-40B4-BE49-F238E27FC236}">
                <a16:creationId xmlns:a16="http://schemas.microsoft.com/office/drawing/2014/main" id="{E30D9188-B6EE-49CC-9715-D0295401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7258050" cy="3933825"/>
          </a:xfrm>
          <a:prstGeom xmlns:a="http://schemas.openxmlformats.org/drawingml/2006/main" prst="roundRect">
            <a:avLst>
              <a:gd name="adj" fmla="val 2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b16727f7748be"/>
          <a:stretch xmlns:a="http://schemas.openxmlformats.org/drawingml/2006/main"/>
        </p:blipFill>
        <p:spPr>
          <a:xfrm xmlns:a="http://schemas.openxmlformats.org/drawingml/2006/main">
            <a:off x="4533900" y="2212839"/>
            <a:ext cx="7067550" cy="3737247"/>
          </a:xfrm>
          <a:prstGeom xmlns:a="http://schemas.openxmlformats.org/drawingml/2006/main" prst="roundRect">
            <a:avLst>
              <a:gd name="adj" fmla="val 2036"/>
            </a:avLst>
          </a:prstGeom>
        </p:spPr>
      </p:pic>
    </p:spTree>
    <p:extLst>
      <p:ext uri="{BB962C8B-B14F-4D97-AF65-F5344CB8AC3E}">
        <p14:creationId xmlns:p14="http://schemas.microsoft.com/office/powerpoint/2010/main" val="576852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1F280-0470-4F7F-8CED-856511EE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768BC-7E14-4B0B-AB28-83577937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高阶提示词 · 对齐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46310-13B2-41B0-A410-731CF126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15D0D-5D14-4833-9264-2C4CD923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636"/>
                </a:solidFill>
              </a:defRPr>
            </a:pPr>
            <a:r>
              <a:rPr sz="2850" b="1">
                <a:solidFill>
                  <a:srgbClr val="102636"/>
                </a:solidFill>
              </a:rPr>
              <a:t>先对齐，再执行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B1A43-729A-4B54-B31D-4D0BD64D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682"/>
                </a:solidFill>
              </a:defRPr>
            </a:pPr>
            <a:r>
              <a:rPr sz="1425" b="0">
                <a:solidFill>
                  <a:srgbClr val="647682"/>
                </a:solidFill>
              </a:rPr>
              <a:t>让 AI 先完整复述理解，继续讨论边界；</a:t>
            </a:r>
          </a:p>
          <a:p xmlns:a="http://schemas.openxmlformats.org/drawingml/2006/main">
            <a:pPr algn="l">
              <a:defRPr sz="1425" b="0">
                <a:solidFill>
                  <a:srgbClr val="647682"/>
                </a:solidFill>
              </a:defRPr>
            </a:pPr>
            <a:r>
              <a:rPr sz="1425" b="0">
                <a:solidFill>
                  <a:srgbClr val="647682"/>
                </a:solidFill>
              </a:rPr>
              <a:t>只有你明确开始，它才进入实施。</a:t>
            </a:r>
          </a:p>
        </p:txBody>
      </p:sp>
      <p:sp>
        <p:nvSpPr>
          <p:cNvPr id="6" name="alignment-screen-frame">
            <a:extLst xmlns:a="http://schemas.openxmlformats.org/drawingml/2006/main">
              <a:ext uri="{FF2B5EF4-FFF2-40B4-BE49-F238E27FC236}">
                <a16:creationId xmlns:a16="http://schemas.microsoft.com/office/drawing/2014/main" id="{A05747A5-A385-4A2A-AF8C-BA5FB4B9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9750"/>
            <a:ext cx="681990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6d527691a4dea"/>
          <a:stretch xmlns:a="http://schemas.openxmlformats.org/drawingml/2006/main"/>
        </p:blipFill>
        <p:spPr>
          <a:xfrm xmlns:a="http://schemas.openxmlformats.org/drawingml/2006/main">
            <a:off x="4972050" y="1905045"/>
            <a:ext cx="6629400" cy="3505111"/>
          </a:xfrm>
          <a:prstGeom xmlns:a="http://schemas.openxmlformats.org/drawingml/2006/main" prst="roundRect">
            <a:avLst>
              <a:gd name="adj" fmla="val 217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3B162-A8A4-4BB1-BE4D-BE42EB60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66F0"/>
                </a:solidFill>
              </a:defRPr>
            </a:pPr>
            <a:r>
              <a:rPr sz="1725" b="1">
                <a:solidFill>
                  <a:srgbClr val="3366F0"/>
                </a:solidFill>
              </a:rPr>
              <a:t>减少误解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D6E7D-F0A9-4669-8C46-B5921E44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补充意见不会被误判为“立即开工”。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8736D-07B7-4426-B123-1D0BD9E2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AF86"/>
                </a:solidFill>
              </a:defRPr>
            </a:pPr>
            <a:r>
              <a:rPr sz="1725" b="1">
                <a:solidFill>
                  <a:srgbClr val="28AF86"/>
                </a:solidFill>
              </a:rPr>
              <a:t>减少返工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098DF-0ABF-47B8-BAE5-8804E046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需求边界先收束，结果更接近真实意图。</a:t>
            </a:r>
          </a:p>
        </p:txBody>
      </p:sp>
      <p:sp>
        <p:nvSpPr>
          <p:cNvPr id="12" name="align-callout">
            <a:extLst xmlns:a="http://schemas.openxmlformats.org/drawingml/2006/main">
              <a:ext uri="{FF2B5EF4-FFF2-40B4-BE49-F238E27FC236}">
                <a16:creationId xmlns:a16="http://schemas.microsoft.com/office/drawing/2014/main" id="{DE55316F-AD69-4F4D-A0F4-8A6D8B0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38800"/>
            <a:ext cx="36766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6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050D7-07EA-40AA-90E8-5E35E6CB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150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一个开关，调用成熟的协作方法</a:t>
            </a:r>
          </a:p>
        </p:txBody>
      </p:sp>
    </p:spTree>
    <p:extLst>
      <p:ext uri="{BB962C8B-B14F-4D97-AF65-F5344CB8AC3E}">
        <p14:creationId xmlns:p14="http://schemas.microsoft.com/office/powerpoint/2010/main" val="666138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B6A22-5B9A-450C-B289-F9C0C7B6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D669B-77E0-429A-A75F-EE054A0E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高阶提示词 · 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C2947-1CEB-43F2-B544-2265FD13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1CECF-6184-42FD-9942-EE6637D0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把一次协作，变成可复用的经验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C559B-55CE-478E-9414-2E782BD3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回顾项目发生了什么，也把背景、决策和踩过的坑交给下一次对话。</a:t>
            </a:r>
          </a:p>
        </p:txBody>
      </p:sp>
      <p:sp>
        <p:nvSpPr>
          <p:cNvPr id="6" name="retrospective-screen-frame">
            <a:extLst xmlns:a="http://schemas.openxmlformats.org/drawingml/2006/main">
              <a:ext uri="{FF2B5EF4-FFF2-40B4-BE49-F238E27FC236}">
                <a16:creationId xmlns:a16="http://schemas.microsoft.com/office/drawing/2014/main" id="{FD0EB258-67E2-4F8D-8AB1-FD78A4E1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7334250" cy="39719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b233632454480"/>
          <a:stretch xmlns:a="http://schemas.openxmlformats.org/drawingml/2006/main"/>
        </p:blipFill>
        <p:spPr>
          <a:xfrm xmlns:a="http://schemas.openxmlformats.org/drawingml/2006/main">
            <a:off x="593723" y="2247900"/>
            <a:ext cx="7137405" cy="3781425"/>
          </a:xfrm>
          <a:prstGeom xmlns:a="http://schemas.openxmlformats.org/drawingml/2006/main" prst="roundRect">
            <a:avLst>
              <a:gd name="adj" fmla="val 20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7A469-A14E-40CF-A6B1-4A02EED3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66F0"/>
                </a:solidFill>
              </a:defRPr>
            </a:pPr>
            <a:r>
              <a:rPr sz="1125" b="1">
                <a:solidFill>
                  <a:srgbClr val="3366F0"/>
                </a:solidFill>
              </a:rPr>
              <a:t>给人看的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D77E0-5F0B-4532-8985-E10FA0DA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36"/>
                </a:solidFill>
              </a:defRPr>
            </a:pPr>
            <a:r>
              <a:rPr sz="1875" b="1">
                <a:solidFill>
                  <a:srgbClr val="102636"/>
                </a:solidFill>
              </a:rPr>
              <a:t>工作复盘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19A1A-AB2B-4721-AC49-D41C867D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目标、关键选择、问题、状态与下一步。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FB674-C97F-4046-AA71-56AF4498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761ED-C87E-4B35-B304-1E5B2752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AF86"/>
                </a:solidFill>
              </a:defRPr>
            </a:pPr>
            <a:r>
              <a:rPr sz="1125" b="1">
                <a:solidFill>
                  <a:srgbClr val="28AF86"/>
                </a:solidFill>
              </a:rPr>
              <a:t>给 AI 看的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EABE-4C04-4827-872A-FC6648E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95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36"/>
                </a:solidFill>
              </a:defRPr>
            </a:pPr>
            <a:r>
              <a:rPr sz="1875" b="1">
                <a:solidFill>
                  <a:srgbClr val="102636"/>
                </a:solidFill>
              </a:rPr>
              <a:t>交接报告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9D76B-1C66-441A-A39F-05D7696C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项目背景、用户要求、失败经验与接手起点。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4C037-4E64-40DD-90A5-1876154A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72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765B"/>
                </a:solidFill>
              </a:defRPr>
            </a:pPr>
            <a:r>
              <a:rPr sz="1350" b="1">
                <a:solidFill>
                  <a:srgbClr val="F2765B"/>
                </a:solidFill>
              </a:rPr>
              <a:t>想开新会话，也不用重新讲一遍。</a:t>
            </a:r>
          </a:p>
        </p:txBody>
      </p:sp>
    </p:spTree>
    <p:extLst>
      <p:ext uri="{BB962C8B-B14F-4D97-AF65-F5344CB8AC3E}">
        <p14:creationId xmlns:p14="http://schemas.microsoft.com/office/powerpoint/2010/main" val="329610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C932A-D36A-4415-BCE7-08758699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B5FF"/>
                </a:solidFill>
              </a:defRPr>
            </a:pPr>
            <a:r>
              <a:rPr sz="1050" b="1">
                <a:solidFill>
                  <a:srgbClr val="91B5FF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C44BC-94CD-4854-BEBE-A1849F16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B2C0"/>
                </a:solidFill>
              </a:defRPr>
            </a:pPr>
            <a:r>
              <a:rPr sz="900" b="1">
                <a:solidFill>
                  <a:srgbClr val="9EB2C0"/>
                </a:solidFill>
              </a:rPr>
              <a:t>未来方向 · 意识理论启发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48DCB-0DC3-4E23-A06D-08A3C2EC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不是让 AI“有意识”，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而是让它更像一个理解你的协作者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AE8A7-F597-4A11-A36A-7BD6E877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CB"/>
                </a:solidFill>
              </a:defRPr>
            </a:pPr>
            <a:r>
              <a:rPr sz="1275" b="0">
                <a:solidFill>
                  <a:srgbClr val="AFC0CB"/>
                </a:solidFill>
              </a:rPr>
              <a:t>借鉴高阶表征、全局工作空间与预测加工，构建在线理解与离线沉淀的闭环。</a:t>
            </a:r>
          </a:p>
        </p:txBody>
      </p:sp>
      <p:sp>
        <p:nvSpPr>
          <p:cNvPr id="5" name="edge-input-working">
            <a:extLst xmlns:a="http://schemas.openxmlformats.org/drawingml/2006/main">
              <a:ext uri="{FF2B5EF4-FFF2-40B4-BE49-F238E27FC236}">
                <a16:creationId xmlns:a16="http://schemas.microsoft.com/office/drawing/2014/main" id="{201D33B3-43E4-4673-A73B-43657F66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623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dge-working-observer">
            <a:extLst xmlns:a="http://schemas.openxmlformats.org/drawingml/2006/main">
              <a:ext uri="{FF2B5EF4-FFF2-40B4-BE49-F238E27FC236}">
                <a16:creationId xmlns:a16="http://schemas.microsoft.com/office/drawing/2014/main" id="{96284A7B-0E30-425F-ABBA-73195DD2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ge-observer-memory">
            <a:extLst xmlns:a="http://schemas.openxmlformats.org/drawingml/2006/main">
              <a:ext uri="{FF2B5EF4-FFF2-40B4-BE49-F238E27FC236}">
                <a16:creationId xmlns:a16="http://schemas.microsoft.com/office/drawing/2014/main" id="{1C9F738C-135D-4FF8-A69F-1495C9F9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DF8E5-BA06-4966-B569-15736560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432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1B5FF"/>
                </a:solidFill>
              </a:defRPr>
            </a:pPr>
            <a:r>
              <a:rPr sz="1875" b="1">
                <a:solidFill>
                  <a:srgbClr val="91B5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294DD-029A-4F0E-9EF0-42E82719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432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1D8C3"/>
                </a:solidFill>
              </a:defRPr>
            </a:pPr>
            <a:r>
              <a:rPr sz="1875" b="1">
                <a:solidFill>
                  <a:srgbClr val="91D8C3"/>
                </a:solidFill>
              </a:rPr>
              <a:t>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211C4-B40F-4828-AF55-93D7571A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432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A693"/>
                </a:solidFill>
              </a:defRPr>
            </a:pPr>
            <a:r>
              <a:rPr sz="1875" b="1">
                <a:solidFill>
                  <a:srgbClr val="F5A693"/>
                </a:solidFill>
              </a:rPr>
              <a:t>→</a:t>
            </a:r>
          </a:p>
        </p:txBody>
      </p:sp>
      <p:sp>
        <p:nvSpPr>
          <p:cNvPr id="11" name="context-node">
            <a:extLst xmlns:a="http://schemas.openxmlformats.org/drawingml/2006/main">
              <a:ext uri="{FF2B5EF4-FFF2-40B4-BE49-F238E27FC236}">
                <a16:creationId xmlns:a16="http://schemas.microsoft.com/office/drawing/2014/main" id="{CAD4B4C5-78DB-4459-87D0-6E7CF766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9F869-9A82-4E90-9CDD-3F0F0C60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用户与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工作语境</a:t>
            </a:r>
          </a:p>
        </p:txBody>
      </p:sp>
      <p:sp>
        <p:nvSpPr>
          <p:cNvPr id="13" name="working-node">
            <a:extLst xmlns:a="http://schemas.openxmlformats.org/drawingml/2006/main">
              <a:ext uri="{FF2B5EF4-FFF2-40B4-BE49-F238E27FC236}">
                <a16:creationId xmlns:a16="http://schemas.microsoft.com/office/drawing/2014/main" id="{F676122E-BF51-4620-A297-17FEB631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194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10375-02D5-41B5-8443-DE1AFF6E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行动脑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6D997-10E3-4263-BB05-17C37E4B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62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CE5FF"/>
                </a:solidFill>
              </a:defRPr>
            </a:pPr>
            <a:r>
              <a:rPr sz="1050" b="0">
                <a:solidFill>
                  <a:srgbClr val="DCE5FF"/>
                </a:solidFill>
              </a:rPr>
              <a:t>完成当前任务</a:t>
            </a:r>
          </a:p>
        </p:txBody>
      </p:sp>
      <p:sp>
        <p:nvSpPr>
          <p:cNvPr id="16" name="observer-node">
            <a:extLst xmlns:a="http://schemas.openxmlformats.org/drawingml/2006/main">
              <a:ext uri="{FF2B5EF4-FFF2-40B4-BE49-F238E27FC236}">
                <a16:creationId xmlns:a16="http://schemas.microsoft.com/office/drawing/2014/main" id="{708085EE-F5E1-4943-BEC0-C7447B61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194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3E446-F705-4DE3-AE4A-B71D0582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主体脑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A9B30-AB8C-4668-BC3F-4D6CB1B6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F6EE"/>
                </a:solidFill>
              </a:defRPr>
            </a:pPr>
            <a:r>
              <a:rPr sz="1050" b="0">
                <a:solidFill>
                  <a:srgbClr val="DDF6EE"/>
                </a:solidFill>
              </a:rPr>
              <a:t>观察与纠偏</a:t>
            </a:r>
          </a:p>
        </p:txBody>
      </p:sp>
      <p:sp>
        <p:nvSpPr>
          <p:cNvPr id="19" name="memory-node">
            <a:extLst xmlns:a="http://schemas.openxmlformats.org/drawingml/2006/main">
              <a:ext uri="{FF2B5EF4-FFF2-40B4-BE49-F238E27FC236}">
                <a16:creationId xmlns:a16="http://schemas.microsoft.com/office/drawing/2014/main" id="{DAD1FB27-E79C-4822-B0CD-94BB870E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194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3613E-E0FE-4586-ABB4-D6D62F9B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1467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记忆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C05CC-71AB-4455-BD54-B4FEB1D3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1B5FF"/>
                </a:solidFill>
              </a:defRPr>
            </a:pPr>
            <a:r>
              <a:rPr sz="1500" b="1">
                <a:solidFill>
                  <a:srgbClr val="91B5FF"/>
                </a:solidFill>
              </a:rPr>
              <a:t>理解用户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EA7AA-99FA-4566-8F6D-12DA40EA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95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1D8C3"/>
                </a:solidFill>
              </a:defRPr>
            </a:pPr>
            <a:r>
              <a:rPr sz="1500" b="1">
                <a:solidFill>
                  <a:srgbClr val="91D8C3"/>
                </a:solidFill>
              </a:rPr>
              <a:t>发现偏离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A260E-6F52-4A37-B1A0-9E348D9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95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A693"/>
                </a:solidFill>
              </a:defRPr>
            </a:pPr>
            <a:r>
              <a:rPr sz="1500" b="1">
                <a:solidFill>
                  <a:srgbClr val="F5A693"/>
                </a:solidFill>
              </a:rPr>
              <a:t>形成连续性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F9364A-F891-4814-B293-0EC6533A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0388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更懂语境，也更会合作。</a:t>
            </a:r>
          </a:p>
        </p:txBody>
      </p:sp>
    </p:spTree>
    <p:extLst>
      <p:ext uri="{BB962C8B-B14F-4D97-AF65-F5344CB8AC3E}">
        <p14:creationId xmlns:p14="http://schemas.microsoft.com/office/powerpoint/2010/main" val="1650185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A149B-6FDC-46BE-B404-19A3985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C3E60-B2CB-4A31-9A3A-CCB418EE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未来场景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1C4F0-7E14-477B-A4D0-2BAAFF8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BBAB6-D08D-4F04-B197-6A567DB2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让 Agent 从办公工具，走向长期协作伙伴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BAE35-4C1A-4D2D-995D-FE51ABA9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更主动、更理解语境，也能陪用户演练复杂场景。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BE100-53A6-46D3-A058-4E9F4A88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66F0"/>
                </a:solidFill>
              </a:defRPr>
            </a:pPr>
            <a:r>
              <a:rPr sz="1350" b="1">
                <a:solidFill>
                  <a:srgbClr val="3366F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6DA4D-5BBA-4312-8E62-82D0FC3A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636"/>
                </a:solidFill>
              </a:defRPr>
            </a:pPr>
            <a:r>
              <a:rPr sz="2100" b="1">
                <a:solidFill>
                  <a:srgbClr val="102636"/>
                </a:solidFill>
              </a:rPr>
              <a:t>桌宠式助手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C4BAA-8B71-454A-9D8D-DE52E709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在工作过程中实时观察，</a:t>
            </a:r>
          </a:p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在合适的时候给出建议。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3D4A7-951F-4A00-BAC3-CAA9BF4D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1111B-206D-45E0-9F2D-0846B68F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66F0"/>
                </a:solidFill>
              </a:defRPr>
            </a:pPr>
            <a:r>
              <a:rPr sz="1275" b="1">
                <a:solidFill>
                  <a:srgbClr val="3366F0"/>
                </a:solidFill>
              </a:rPr>
              <a:t>从“等你提问”到“主动发现”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F71F3-8BEE-4E9A-81CD-8DC98D9C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AF86"/>
                </a:solidFill>
              </a:defRPr>
            </a:pPr>
            <a:r>
              <a:rPr sz="1350" b="1">
                <a:solidFill>
                  <a:srgbClr val="28AF8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1D22A-965E-478A-B974-DF642E1B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636"/>
                </a:solidFill>
              </a:defRPr>
            </a:pPr>
            <a:r>
              <a:rPr sz="2100" b="1">
                <a:solidFill>
                  <a:srgbClr val="102636"/>
                </a:solidFill>
              </a:rPr>
              <a:t>沙盘模式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49E24-B54B-4B4D-B14A-D1E9F4AB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956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输入背景与角色，模拟面试、</a:t>
            </a:r>
          </a:p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演讲、谈判等真实情境。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FEBDF-BFEB-4D82-8A64-EE08D665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62450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E1F1B-2FCE-4DE2-A238-341C6B40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AF86"/>
                </a:solidFill>
              </a:defRPr>
            </a:pPr>
            <a:r>
              <a:rPr sz="1275" b="1">
                <a:solidFill>
                  <a:srgbClr val="28AF86"/>
                </a:solidFill>
              </a:rPr>
              <a:t>先在安全环境中练一遍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383C7-32BA-4B08-AEF4-75B8A3D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765B"/>
                </a:solidFill>
              </a:defRPr>
            </a:pPr>
            <a:r>
              <a:rPr sz="1350" b="1">
                <a:solidFill>
                  <a:srgbClr val="F2765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4EB4D-438B-451D-ADEB-92F24DE7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636"/>
                </a:solidFill>
              </a:defRPr>
            </a:pPr>
            <a:r>
              <a:rPr sz="2100" b="1">
                <a:solidFill>
                  <a:srgbClr val="102636"/>
                </a:solidFill>
              </a:rPr>
              <a:t>多 Agent 互动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1ADCB-43EE-426E-9FEE-0194C923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不同 Agent 扮演不同角色，</a:t>
            </a:r>
          </a:p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协作、质疑、反馈和复盘。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25299-E968-4433-AFC3-D2494BF2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62450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61D42-379D-41D6-A5CB-5FE211F5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52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765B"/>
                </a:solidFill>
              </a:defRPr>
            </a:pPr>
            <a:r>
              <a:rPr sz="1275" b="1">
                <a:solidFill>
                  <a:srgbClr val="F2765B"/>
                </a:solidFill>
              </a:rPr>
              <a:t>把复杂任务变成可观察的互动</a:t>
            </a:r>
          </a:p>
        </p:txBody>
      </p:sp>
      <p:sp>
        <p:nvSpPr>
          <p:cNvPr id="21" name="closing-strip">
            <a:extLst xmlns:a="http://schemas.openxmlformats.org/drawingml/2006/main">
              <a:ext uri="{FF2B5EF4-FFF2-40B4-BE49-F238E27FC236}">
                <a16:creationId xmlns:a16="http://schemas.microsoft.com/office/drawing/2014/main" id="{34232522-E919-4556-BF00-F5135893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1010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A1AC8-166D-4171-8C26-E44D980D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Alpha 的方向：让 AI 更懂你的工作，也更懂如何与你一起工作。</a:t>
            </a:r>
          </a:p>
        </p:txBody>
      </p:sp>
    </p:spTree>
    <p:extLst>
      <p:ext uri="{BB962C8B-B14F-4D97-AF65-F5344CB8AC3E}">
        <p14:creationId xmlns:p14="http://schemas.microsoft.com/office/powerpoint/2010/main" val="1406117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2026-07-24T05:21:14.4130000Z</dcterms:created>
  <dcterms:modified xsi:type="dcterms:W3CDTF">2026-07-24T05:21:14.4130000Z</dcterms:modified>
</coreProperties>
</file>